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notesMasterIdLst>
    <p:notesMasterId r:id="rId8"/>
  </p:notesMasterIdLst>
  <p:sldIdLst>
    <p:sldId id="259" r:id="rId5"/>
    <p:sldId id="260" r:id="rId6"/>
    <p:sldId id="261" r:id="rId7"/>
  </p:sldIdLst>
  <p:sldSz cx="42800588"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3458" userDrawn="1">
          <p15:clr>
            <a:srgbClr val="A4A3A4"/>
          </p15:clr>
        </p15:guide>
        <p15:guide id="3" orient="horz" pos="956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terson, Helen" initials="PH" lastIdx="1" clrIdx="0">
    <p:extLst>
      <p:ext uri="{19B8F6BF-5375-455C-9EA6-DF929625EA0E}">
        <p15:presenceInfo xmlns:p15="http://schemas.microsoft.com/office/powerpoint/2012/main" userId="S::ucyihcp@ucl.ac.uk::5f259b6b-27f6-4b09-8495-590a8edf876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1B54"/>
    <a:srgbClr val="E6E6E6"/>
    <a:srgbClr val="FBF3F7"/>
    <a:srgbClr val="E6ECED"/>
    <a:srgbClr val="E5E5DE"/>
    <a:srgbClr val="F4F5EC"/>
    <a:srgbClr val="E6F5F6"/>
    <a:srgbClr val="F6F6F6"/>
    <a:srgbClr val="CCFFFF"/>
    <a:srgbClr val="DCD7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8359" autoAdjust="0"/>
    <p:restoredTop sz="96247" autoAdjust="0"/>
  </p:normalViewPr>
  <p:slideViewPr>
    <p:cSldViewPr snapToGrid="0" showGuides="1">
      <p:cViewPr>
        <p:scale>
          <a:sx n="50" d="100"/>
          <a:sy n="50" d="100"/>
        </p:scale>
        <p:origin x="2916" y="150"/>
      </p:cViewPr>
      <p:guideLst>
        <p:guide pos="13458"/>
        <p:guide orient="horz" pos="9564"/>
      </p:guideLst>
    </p:cSldViewPr>
  </p:slideViewPr>
  <p:notesTextViewPr>
    <p:cViewPr>
      <p:scale>
        <a:sx n="125" d="100"/>
        <a:sy n="125" d="100"/>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FE63C3-86B7-4CFF-AC7B-6375F7B57776}"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GB"/>
        </a:p>
      </dgm:t>
    </dgm:pt>
    <dgm:pt modelId="{3C2EFB5A-C985-457A-A052-B0D80A4CE450}">
      <dgm:prSet phldrT="[Text]" phldr="0" custT="1"/>
      <dgm:spPr>
        <a:solidFill>
          <a:srgbClr val="301B54"/>
        </a:solidFill>
      </dgm:spPr>
      <dgm:t>
        <a:bodyPr/>
        <a:lstStyle/>
        <a:p>
          <a:r>
            <a:rPr lang="en-US" sz="2000" dirty="0"/>
            <a:t>Apply Orbit File</a:t>
          </a:r>
          <a:endParaRPr lang="en-GB" sz="2000" dirty="0"/>
        </a:p>
      </dgm:t>
    </dgm:pt>
    <dgm:pt modelId="{09E0B86A-96B0-49E8-9FB3-5E3F6D8D5DB6}" type="parTrans" cxnId="{36C3C5C5-EA81-459B-B467-DA4A77C182EE}">
      <dgm:prSet/>
      <dgm:spPr/>
      <dgm:t>
        <a:bodyPr/>
        <a:lstStyle/>
        <a:p>
          <a:endParaRPr lang="en-GB" sz="2000"/>
        </a:p>
      </dgm:t>
    </dgm:pt>
    <dgm:pt modelId="{9E15B145-9165-4766-AB6E-37BD2F9A30D2}" type="sibTrans" cxnId="{36C3C5C5-EA81-459B-B467-DA4A77C182EE}">
      <dgm:prSet/>
      <dgm:spPr/>
      <dgm:t>
        <a:bodyPr/>
        <a:lstStyle/>
        <a:p>
          <a:endParaRPr lang="en-GB" sz="2000"/>
        </a:p>
      </dgm:t>
    </dgm:pt>
    <dgm:pt modelId="{07AB0865-D6D2-4ED9-B512-CACB490BC306}">
      <dgm:prSet phldrT="[Text]" phldr="0" custT="1"/>
      <dgm:spPr>
        <a:solidFill>
          <a:srgbClr val="301B54"/>
        </a:solidFill>
      </dgm:spPr>
      <dgm:t>
        <a:bodyPr/>
        <a:lstStyle/>
        <a:p>
          <a:r>
            <a:rPr lang="en-US" sz="2000" dirty="0"/>
            <a:t>Thermal Noise Removal</a:t>
          </a:r>
          <a:endParaRPr lang="en-GB" sz="2000" dirty="0"/>
        </a:p>
      </dgm:t>
    </dgm:pt>
    <dgm:pt modelId="{2DB16328-028A-4643-930C-D1776B84E7BA}" type="parTrans" cxnId="{D4D976DF-97A9-422D-8855-1F4BDBAADE76}">
      <dgm:prSet/>
      <dgm:spPr/>
      <dgm:t>
        <a:bodyPr/>
        <a:lstStyle/>
        <a:p>
          <a:endParaRPr lang="en-GB" sz="2000"/>
        </a:p>
      </dgm:t>
    </dgm:pt>
    <dgm:pt modelId="{4B79A5FE-D4D2-43C6-B6F3-C835CBE4ED15}" type="sibTrans" cxnId="{D4D976DF-97A9-422D-8855-1F4BDBAADE76}">
      <dgm:prSet/>
      <dgm:spPr/>
      <dgm:t>
        <a:bodyPr/>
        <a:lstStyle/>
        <a:p>
          <a:endParaRPr lang="en-GB" sz="2000"/>
        </a:p>
      </dgm:t>
    </dgm:pt>
    <dgm:pt modelId="{29411DFA-595E-4F1D-AE77-F8A200E3DE09}">
      <dgm:prSet phldrT="[Text]" phldr="0" custT="1"/>
      <dgm:spPr>
        <a:solidFill>
          <a:srgbClr val="301B54"/>
        </a:solidFill>
      </dgm:spPr>
      <dgm:t>
        <a:bodyPr/>
        <a:lstStyle/>
        <a:p>
          <a:r>
            <a:rPr lang="en-US" sz="2000" dirty="0"/>
            <a:t>Radiometric</a:t>
          </a:r>
        </a:p>
        <a:p>
          <a:r>
            <a:rPr lang="en-US" sz="2000" dirty="0"/>
            <a:t>Calibration</a:t>
          </a:r>
          <a:endParaRPr lang="en-GB" sz="2000" dirty="0"/>
        </a:p>
      </dgm:t>
    </dgm:pt>
    <dgm:pt modelId="{9C1FB9BB-40BB-45AD-B972-91D21C7A7E95}" type="parTrans" cxnId="{B0574711-0A4D-475C-894F-7A2481C64799}">
      <dgm:prSet/>
      <dgm:spPr/>
      <dgm:t>
        <a:bodyPr/>
        <a:lstStyle/>
        <a:p>
          <a:endParaRPr lang="en-GB" sz="2000"/>
        </a:p>
      </dgm:t>
    </dgm:pt>
    <dgm:pt modelId="{C69E359A-DCE2-4FBD-B958-10D16E9D9E5A}" type="sibTrans" cxnId="{B0574711-0A4D-475C-894F-7A2481C64799}">
      <dgm:prSet/>
      <dgm:spPr/>
      <dgm:t>
        <a:bodyPr/>
        <a:lstStyle/>
        <a:p>
          <a:endParaRPr lang="en-GB" sz="2000"/>
        </a:p>
      </dgm:t>
    </dgm:pt>
    <dgm:pt modelId="{8CD80EEE-6A2A-4A10-BBB5-60A32EE0A3F8}">
      <dgm:prSet phldrT="[Text]" phldr="0" custT="1"/>
      <dgm:spPr>
        <a:solidFill>
          <a:srgbClr val="301B54"/>
        </a:solidFill>
      </dgm:spPr>
      <dgm:t>
        <a:bodyPr/>
        <a:lstStyle/>
        <a:p>
          <a:r>
            <a:rPr lang="en-US" sz="2000" dirty="0"/>
            <a:t>Speckle Filtering</a:t>
          </a:r>
          <a:endParaRPr lang="en-GB" sz="2000" dirty="0"/>
        </a:p>
      </dgm:t>
    </dgm:pt>
    <dgm:pt modelId="{C768DAE6-100D-4DBF-895F-4A196885DC8E}" type="parTrans" cxnId="{5614B588-2EBF-4903-A6F2-AC2F74C32FC4}">
      <dgm:prSet/>
      <dgm:spPr/>
      <dgm:t>
        <a:bodyPr/>
        <a:lstStyle/>
        <a:p>
          <a:endParaRPr lang="en-GB" sz="2000"/>
        </a:p>
      </dgm:t>
    </dgm:pt>
    <dgm:pt modelId="{042CFB03-2A06-43BC-A9FB-640DAF5B61F5}" type="sibTrans" cxnId="{5614B588-2EBF-4903-A6F2-AC2F74C32FC4}">
      <dgm:prSet/>
      <dgm:spPr/>
      <dgm:t>
        <a:bodyPr/>
        <a:lstStyle/>
        <a:p>
          <a:endParaRPr lang="en-GB" sz="2000"/>
        </a:p>
      </dgm:t>
    </dgm:pt>
    <dgm:pt modelId="{0409BF28-C456-4E81-A78E-A6EEB24E231B}">
      <dgm:prSet phldrT="[Text]" phldr="0" custT="1"/>
      <dgm:spPr>
        <a:solidFill>
          <a:srgbClr val="301B54"/>
        </a:solidFill>
      </dgm:spPr>
      <dgm:t>
        <a:bodyPr/>
        <a:lstStyle/>
        <a:p>
          <a:r>
            <a:rPr lang="en-US" sz="2000" dirty="0"/>
            <a:t>Terrain Correction</a:t>
          </a:r>
          <a:endParaRPr lang="en-GB" sz="2000" dirty="0"/>
        </a:p>
      </dgm:t>
    </dgm:pt>
    <dgm:pt modelId="{2F162E13-4F1B-4FB0-BC05-D1B461082148}" type="parTrans" cxnId="{7615B9F4-6B81-4C15-B13C-3BC8D6848D1B}">
      <dgm:prSet/>
      <dgm:spPr/>
      <dgm:t>
        <a:bodyPr/>
        <a:lstStyle/>
        <a:p>
          <a:endParaRPr lang="en-GB" sz="2000"/>
        </a:p>
      </dgm:t>
    </dgm:pt>
    <dgm:pt modelId="{8B476AFF-5BE3-49A4-BAD5-88401F075063}" type="sibTrans" cxnId="{7615B9F4-6B81-4C15-B13C-3BC8D6848D1B}">
      <dgm:prSet/>
      <dgm:spPr/>
      <dgm:t>
        <a:bodyPr/>
        <a:lstStyle/>
        <a:p>
          <a:endParaRPr lang="en-GB" sz="2000"/>
        </a:p>
      </dgm:t>
    </dgm:pt>
    <dgm:pt modelId="{CC0B1201-1B18-4E32-ADA6-7EC7AB20C163}">
      <dgm:prSet phldrT="[Text]" phldr="0" custT="1"/>
      <dgm:spPr>
        <a:solidFill>
          <a:srgbClr val="301B54"/>
        </a:solidFill>
      </dgm:spPr>
      <dgm:t>
        <a:bodyPr/>
        <a:lstStyle/>
        <a:p>
          <a:r>
            <a:rPr lang="en-US" sz="2000" dirty="0"/>
            <a:t>Dual Polarization Sigma0 dB</a:t>
          </a:r>
          <a:endParaRPr lang="en-GB" sz="2000" dirty="0"/>
        </a:p>
      </dgm:t>
    </dgm:pt>
    <dgm:pt modelId="{A1946853-6549-4E88-9462-C8958B5EE846}" type="parTrans" cxnId="{A20B84EB-6941-497F-9ABA-47BC0899A996}">
      <dgm:prSet/>
      <dgm:spPr/>
      <dgm:t>
        <a:bodyPr/>
        <a:lstStyle/>
        <a:p>
          <a:endParaRPr lang="en-GB" sz="2000"/>
        </a:p>
      </dgm:t>
    </dgm:pt>
    <dgm:pt modelId="{B5113A38-B308-4D10-949F-86857D2DB844}" type="sibTrans" cxnId="{A20B84EB-6941-497F-9ABA-47BC0899A996}">
      <dgm:prSet/>
      <dgm:spPr/>
      <dgm:t>
        <a:bodyPr/>
        <a:lstStyle/>
        <a:p>
          <a:endParaRPr lang="en-GB" sz="2000"/>
        </a:p>
      </dgm:t>
    </dgm:pt>
    <dgm:pt modelId="{05160610-061A-43FD-A98C-26FB155C278A}" type="pres">
      <dgm:prSet presAssocID="{10FE63C3-86B7-4CFF-AC7B-6375F7B57776}" presName="Name0" presStyleCnt="0">
        <dgm:presLayoutVars>
          <dgm:dir/>
          <dgm:animLvl val="lvl"/>
          <dgm:resizeHandles val="exact"/>
        </dgm:presLayoutVars>
      </dgm:prSet>
      <dgm:spPr/>
    </dgm:pt>
    <dgm:pt modelId="{0043D238-7055-44AB-A176-032494BDB9DA}" type="pres">
      <dgm:prSet presAssocID="{3C2EFB5A-C985-457A-A052-B0D80A4CE450}" presName="parTxOnly" presStyleLbl="node1" presStyleIdx="0" presStyleCnt="6">
        <dgm:presLayoutVars>
          <dgm:chMax val="0"/>
          <dgm:chPref val="0"/>
          <dgm:bulletEnabled val="1"/>
        </dgm:presLayoutVars>
      </dgm:prSet>
      <dgm:spPr/>
    </dgm:pt>
    <dgm:pt modelId="{BB7F9BA6-00B7-4385-86AB-0AFF14120D8F}" type="pres">
      <dgm:prSet presAssocID="{9E15B145-9165-4766-AB6E-37BD2F9A30D2}" presName="parTxOnlySpace" presStyleCnt="0"/>
      <dgm:spPr/>
    </dgm:pt>
    <dgm:pt modelId="{F583D013-D5A4-487F-8D3B-84F9C53DCEC1}" type="pres">
      <dgm:prSet presAssocID="{07AB0865-D6D2-4ED9-B512-CACB490BC306}" presName="parTxOnly" presStyleLbl="node1" presStyleIdx="1" presStyleCnt="6">
        <dgm:presLayoutVars>
          <dgm:chMax val="0"/>
          <dgm:chPref val="0"/>
          <dgm:bulletEnabled val="1"/>
        </dgm:presLayoutVars>
      </dgm:prSet>
      <dgm:spPr/>
    </dgm:pt>
    <dgm:pt modelId="{76FDA0C6-99A4-4A2D-94A8-D88BC7ADD7BA}" type="pres">
      <dgm:prSet presAssocID="{4B79A5FE-D4D2-43C6-B6F3-C835CBE4ED15}" presName="parTxOnlySpace" presStyleCnt="0"/>
      <dgm:spPr/>
    </dgm:pt>
    <dgm:pt modelId="{BCFCDF81-C2CC-4AE8-AC03-5FF7E6D96B00}" type="pres">
      <dgm:prSet presAssocID="{29411DFA-595E-4F1D-AE77-F8A200E3DE09}" presName="parTxOnly" presStyleLbl="node1" presStyleIdx="2" presStyleCnt="6">
        <dgm:presLayoutVars>
          <dgm:chMax val="0"/>
          <dgm:chPref val="0"/>
          <dgm:bulletEnabled val="1"/>
        </dgm:presLayoutVars>
      </dgm:prSet>
      <dgm:spPr/>
    </dgm:pt>
    <dgm:pt modelId="{2927D057-ADA9-4C86-9851-9D9994271C90}" type="pres">
      <dgm:prSet presAssocID="{C69E359A-DCE2-4FBD-B958-10D16E9D9E5A}" presName="parTxOnlySpace" presStyleCnt="0"/>
      <dgm:spPr/>
    </dgm:pt>
    <dgm:pt modelId="{2BE5D669-2D3F-4D43-A8E4-8A8AFD6802F8}" type="pres">
      <dgm:prSet presAssocID="{8CD80EEE-6A2A-4A10-BBB5-60A32EE0A3F8}" presName="parTxOnly" presStyleLbl="node1" presStyleIdx="3" presStyleCnt="6">
        <dgm:presLayoutVars>
          <dgm:chMax val="0"/>
          <dgm:chPref val="0"/>
          <dgm:bulletEnabled val="1"/>
        </dgm:presLayoutVars>
      </dgm:prSet>
      <dgm:spPr/>
    </dgm:pt>
    <dgm:pt modelId="{1E8D291A-B211-4F38-B7AF-14B7B2DF288D}" type="pres">
      <dgm:prSet presAssocID="{042CFB03-2A06-43BC-A9FB-640DAF5B61F5}" presName="parTxOnlySpace" presStyleCnt="0"/>
      <dgm:spPr/>
    </dgm:pt>
    <dgm:pt modelId="{C85ADB95-8BCB-4C87-9EB7-C68B29A11454}" type="pres">
      <dgm:prSet presAssocID="{0409BF28-C456-4E81-A78E-A6EEB24E231B}" presName="parTxOnly" presStyleLbl="node1" presStyleIdx="4" presStyleCnt="6">
        <dgm:presLayoutVars>
          <dgm:chMax val="0"/>
          <dgm:chPref val="0"/>
          <dgm:bulletEnabled val="1"/>
        </dgm:presLayoutVars>
      </dgm:prSet>
      <dgm:spPr/>
    </dgm:pt>
    <dgm:pt modelId="{03B8CE10-CFA9-4CF6-9186-8BFE17C4F00E}" type="pres">
      <dgm:prSet presAssocID="{8B476AFF-5BE3-49A4-BAD5-88401F075063}" presName="parTxOnlySpace" presStyleCnt="0"/>
      <dgm:spPr/>
    </dgm:pt>
    <dgm:pt modelId="{8C09874B-1005-4BD8-B73B-F936231F327A}" type="pres">
      <dgm:prSet presAssocID="{CC0B1201-1B18-4E32-ADA6-7EC7AB20C163}" presName="parTxOnly" presStyleLbl="node1" presStyleIdx="5" presStyleCnt="6">
        <dgm:presLayoutVars>
          <dgm:chMax val="0"/>
          <dgm:chPref val="0"/>
          <dgm:bulletEnabled val="1"/>
        </dgm:presLayoutVars>
      </dgm:prSet>
      <dgm:spPr/>
    </dgm:pt>
  </dgm:ptLst>
  <dgm:cxnLst>
    <dgm:cxn modelId="{B0574711-0A4D-475C-894F-7A2481C64799}" srcId="{10FE63C3-86B7-4CFF-AC7B-6375F7B57776}" destId="{29411DFA-595E-4F1D-AE77-F8A200E3DE09}" srcOrd="2" destOrd="0" parTransId="{9C1FB9BB-40BB-45AD-B972-91D21C7A7E95}" sibTransId="{C69E359A-DCE2-4FBD-B958-10D16E9D9E5A}"/>
    <dgm:cxn modelId="{F02C5E3C-FAD3-482F-82C0-EFAD15612B2D}" type="presOf" srcId="{CC0B1201-1B18-4E32-ADA6-7EC7AB20C163}" destId="{8C09874B-1005-4BD8-B73B-F936231F327A}" srcOrd="0" destOrd="0" presId="urn:microsoft.com/office/officeart/2005/8/layout/chevron1"/>
    <dgm:cxn modelId="{507C7045-6AF3-4B5F-A7CB-C7A16A552945}" type="presOf" srcId="{29411DFA-595E-4F1D-AE77-F8A200E3DE09}" destId="{BCFCDF81-C2CC-4AE8-AC03-5FF7E6D96B00}" srcOrd="0" destOrd="0" presId="urn:microsoft.com/office/officeart/2005/8/layout/chevron1"/>
    <dgm:cxn modelId="{A6F16F4D-ACBF-4E7F-8584-7CE13F6DF040}" type="presOf" srcId="{0409BF28-C456-4E81-A78E-A6EEB24E231B}" destId="{C85ADB95-8BCB-4C87-9EB7-C68B29A11454}" srcOrd="0" destOrd="0" presId="urn:microsoft.com/office/officeart/2005/8/layout/chevron1"/>
    <dgm:cxn modelId="{5614B588-2EBF-4903-A6F2-AC2F74C32FC4}" srcId="{10FE63C3-86B7-4CFF-AC7B-6375F7B57776}" destId="{8CD80EEE-6A2A-4A10-BBB5-60A32EE0A3F8}" srcOrd="3" destOrd="0" parTransId="{C768DAE6-100D-4DBF-895F-4A196885DC8E}" sibTransId="{042CFB03-2A06-43BC-A9FB-640DAF5B61F5}"/>
    <dgm:cxn modelId="{54AB3A8E-2395-4675-821A-C2AB1D61DCD1}" type="presOf" srcId="{07AB0865-D6D2-4ED9-B512-CACB490BC306}" destId="{F583D013-D5A4-487F-8D3B-84F9C53DCEC1}" srcOrd="0" destOrd="0" presId="urn:microsoft.com/office/officeart/2005/8/layout/chevron1"/>
    <dgm:cxn modelId="{D015F3A1-A2E9-4A67-A310-4DA1B36D6A08}" type="presOf" srcId="{3C2EFB5A-C985-457A-A052-B0D80A4CE450}" destId="{0043D238-7055-44AB-A176-032494BDB9DA}" srcOrd="0" destOrd="0" presId="urn:microsoft.com/office/officeart/2005/8/layout/chevron1"/>
    <dgm:cxn modelId="{36C3C5C5-EA81-459B-B467-DA4A77C182EE}" srcId="{10FE63C3-86B7-4CFF-AC7B-6375F7B57776}" destId="{3C2EFB5A-C985-457A-A052-B0D80A4CE450}" srcOrd="0" destOrd="0" parTransId="{09E0B86A-96B0-49E8-9FB3-5E3F6D8D5DB6}" sibTransId="{9E15B145-9165-4766-AB6E-37BD2F9A30D2}"/>
    <dgm:cxn modelId="{90B850CA-6E47-4045-9831-1A0EBC58ED73}" type="presOf" srcId="{8CD80EEE-6A2A-4A10-BBB5-60A32EE0A3F8}" destId="{2BE5D669-2D3F-4D43-A8E4-8A8AFD6802F8}" srcOrd="0" destOrd="0" presId="urn:microsoft.com/office/officeart/2005/8/layout/chevron1"/>
    <dgm:cxn modelId="{D4D976DF-97A9-422D-8855-1F4BDBAADE76}" srcId="{10FE63C3-86B7-4CFF-AC7B-6375F7B57776}" destId="{07AB0865-D6D2-4ED9-B512-CACB490BC306}" srcOrd="1" destOrd="0" parTransId="{2DB16328-028A-4643-930C-D1776B84E7BA}" sibTransId="{4B79A5FE-D4D2-43C6-B6F3-C835CBE4ED15}"/>
    <dgm:cxn modelId="{3011CCE4-68C0-4D21-9719-4D36ABD038AF}" type="presOf" srcId="{10FE63C3-86B7-4CFF-AC7B-6375F7B57776}" destId="{05160610-061A-43FD-A98C-26FB155C278A}" srcOrd="0" destOrd="0" presId="urn:microsoft.com/office/officeart/2005/8/layout/chevron1"/>
    <dgm:cxn modelId="{A20B84EB-6941-497F-9ABA-47BC0899A996}" srcId="{10FE63C3-86B7-4CFF-AC7B-6375F7B57776}" destId="{CC0B1201-1B18-4E32-ADA6-7EC7AB20C163}" srcOrd="5" destOrd="0" parTransId="{A1946853-6549-4E88-9462-C8958B5EE846}" sibTransId="{B5113A38-B308-4D10-949F-86857D2DB844}"/>
    <dgm:cxn modelId="{7615B9F4-6B81-4C15-B13C-3BC8D6848D1B}" srcId="{10FE63C3-86B7-4CFF-AC7B-6375F7B57776}" destId="{0409BF28-C456-4E81-A78E-A6EEB24E231B}" srcOrd="4" destOrd="0" parTransId="{2F162E13-4F1B-4FB0-BC05-D1B461082148}" sibTransId="{8B476AFF-5BE3-49A4-BAD5-88401F075063}"/>
    <dgm:cxn modelId="{12BD50A4-3B43-4255-991B-FBED3554B84C}" type="presParOf" srcId="{05160610-061A-43FD-A98C-26FB155C278A}" destId="{0043D238-7055-44AB-A176-032494BDB9DA}" srcOrd="0" destOrd="0" presId="urn:microsoft.com/office/officeart/2005/8/layout/chevron1"/>
    <dgm:cxn modelId="{00E91C05-9FF0-41C9-87E8-FD8D30B2ABBC}" type="presParOf" srcId="{05160610-061A-43FD-A98C-26FB155C278A}" destId="{BB7F9BA6-00B7-4385-86AB-0AFF14120D8F}" srcOrd="1" destOrd="0" presId="urn:microsoft.com/office/officeart/2005/8/layout/chevron1"/>
    <dgm:cxn modelId="{3526B027-47D2-4E8B-A673-5F061AE7F1A9}" type="presParOf" srcId="{05160610-061A-43FD-A98C-26FB155C278A}" destId="{F583D013-D5A4-487F-8D3B-84F9C53DCEC1}" srcOrd="2" destOrd="0" presId="urn:microsoft.com/office/officeart/2005/8/layout/chevron1"/>
    <dgm:cxn modelId="{5F87805D-675F-49C5-B6E5-74685B1D9F45}" type="presParOf" srcId="{05160610-061A-43FD-A98C-26FB155C278A}" destId="{76FDA0C6-99A4-4A2D-94A8-D88BC7ADD7BA}" srcOrd="3" destOrd="0" presId="urn:microsoft.com/office/officeart/2005/8/layout/chevron1"/>
    <dgm:cxn modelId="{56D019A5-041B-49C2-86E9-2D455F21E490}" type="presParOf" srcId="{05160610-061A-43FD-A98C-26FB155C278A}" destId="{BCFCDF81-C2CC-4AE8-AC03-5FF7E6D96B00}" srcOrd="4" destOrd="0" presId="urn:microsoft.com/office/officeart/2005/8/layout/chevron1"/>
    <dgm:cxn modelId="{DE5E7961-3E88-4EDE-AF29-0119B3C4393C}" type="presParOf" srcId="{05160610-061A-43FD-A98C-26FB155C278A}" destId="{2927D057-ADA9-4C86-9851-9D9994271C90}" srcOrd="5" destOrd="0" presId="urn:microsoft.com/office/officeart/2005/8/layout/chevron1"/>
    <dgm:cxn modelId="{8F448544-6EEA-4ABC-85E2-C736199634D2}" type="presParOf" srcId="{05160610-061A-43FD-A98C-26FB155C278A}" destId="{2BE5D669-2D3F-4D43-A8E4-8A8AFD6802F8}" srcOrd="6" destOrd="0" presId="urn:microsoft.com/office/officeart/2005/8/layout/chevron1"/>
    <dgm:cxn modelId="{4D616A56-25B8-4DCD-B14B-094E90DC5DE5}" type="presParOf" srcId="{05160610-061A-43FD-A98C-26FB155C278A}" destId="{1E8D291A-B211-4F38-B7AF-14B7B2DF288D}" srcOrd="7" destOrd="0" presId="urn:microsoft.com/office/officeart/2005/8/layout/chevron1"/>
    <dgm:cxn modelId="{50F76001-F2CA-4ABD-97EA-298874EDC266}" type="presParOf" srcId="{05160610-061A-43FD-A98C-26FB155C278A}" destId="{C85ADB95-8BCB-4C87-9EB7-C68B29A11454}" srcOrd="8" destOrd="0" presId="urn:microsoft.com/office/officeart/2005/8/layout/chevron1"/>
    <dgm:cxn modelId="{1068AB5E-A822-45F6-8947-977F40A1DDA1}" type="presParOf" srcId="{05160610-061A-43FD-A98C-26FB155C278A}" destId="{03B8CE10-CFA9-4CF6-9186-8BFE17C4F00E}" srcOrd="9" destOrd="0" presId="urn:microsoft.com/office/officeart/2005/8/layout/chevron1"/>
    <dgm:cxn modelId="{5BDD1425-8094-4DA2-AC89-15013DF9E867}" type="presParOf" srcId="{05160610-061A-43FD-A98C-26FB155C278A}" destId="{8C09874B-1005-4BD8-B73B-F936231F327A}" srcOrd="10" destOrd="0" presId="urn:microsoft.com/office/officeart/2005/8/layout/chevron1"/>
  </dgm:cxnLst>
  <dgm:bg>
    <a:noFill/>
  </dgm:bg>
  <dgm:whole/>
  <dgm:extLst>
    <a:ext uri="http://schemas.microsoft.com/office/drawing/2008/diagram">
      <dsp:dataModelExt xmlns:dsp="http://schemas.microsoft.com/office/drawing/2008/diagram" relId="rId2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3D238-7055-44AB-A176-032494BDB9DA}">
      <dsp:nvSpPr>
        <dsp:cNvPr id="0" name=""/>
        <dsp:cNvSpPr/>
      </dsp:nvSpPr>
      <dsp:spPr>
        <a:xfrm>
          <a:off x="6569" y="1316899"/>
          <a:ext cx="2444001" cy="977600"/>
        </a:xfrm>
        <a:prstGeom prst="chevron">
          <a:avLst/>
        </a:prstGeom>
        <a:solidFill>
          <a:srgbClr val="301B5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Apply Orbit File</a:t>
          </a:r>
          <a:endParaRPr lang="en-GB" sz="2000" kern="1200" dirty="0"/>
        </a:p>
      </dsp:txBody>
      <dsp:txXfrm>
        <a:off x="495369" y="1316899"/>
        <a:ext cx="1466401" cy="977600"/>
      </dsp:txXfrm>
    </dsp:sp>
    <dsp:sp modelId="{F583D013-D5A4-487F-8D3B-84F9C53DCEC1}">
      <dsp:nvSpPr>
        <dsp:cNvPr id="0" name=""/>
        <dsp:cNvSpPr/>
      </dsp:nvSpPr>
      <dsp:spPr>
        <a:xfrm>
          <a:off x="2206171" y="1316899"/>
          <a:ext cx="2444001" cy="977600"/>
        </a:xfrm>
        <a:prstGeom prst="chevron">
          <a:avLst/>
        </a:prstGeom>
        <a:solidFill>
          <a:srgbClr val="301B5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Thermal Noise Removal</a:t>
          </a:r>
          <a:endParaRPr lang="en-GB" sz="2000" kern="1200" dirty="0"/>
        </a:p>
      </dsp:txBody>
      <dsp:txXfrm>
        <a:off x="2694971" y="1316899"/>
        <a:ext cx="1466401" cy="977600"/>
      </dsp:txXfrm>
    </dsp:sp>
    <dsp:sp modelId="{BCFCDF81-C2CC-4AE8-AC03-5FF7E6D96B00}">
      <dsp:nvSpPr>
        <dsp:cNvPr id="0" name=""/>
        <dsp:cNvSpPr/>
      </dsp:nvSpPr>
      <dsp:spPr>
        <a:xfrm>
          <a:off x="4405772" y="1316899"/>
          <a:ext cx="2444001" cy="977600"/>
        </a:xfrm>
        <a:prstGeom prst="chevron">
          <a:avLst/>
        </a:prstGeom>
        <a:solidFill>
          <a:srgbClr val="301B5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Radiometric</a:t>
          </a:r>
        </a:p>
        <a:p>
          <a:pPr marL="0" lvl="0" indent="0" algn="ctr" defTabSz="889000">
            <a:lnSpc>
              <a:spcPct val="90000"/>
            </a:lnSpc>
            <a:spcBef>
              <a:spcPct val="0"/>
            </a:spcBef>
            <a:spcAft>
              <a:spcPct val="35000"/>
            </a:spcAft>
            <a:buNone/>
          </a:pPr>
          <a:r>
            <a:rPr lang="en-US" sz="2000" kern="1200" dirty="0"/>
            <a:t>Calibration</a:t>
          </a:r>
          <a:endParaRPr lang="en-GB" sz="2000" kern="1200" dirty="0"/>
        </a:p>
      </dsp:txBody>
      <dsp:txXfrm>
        <a:off x="4894572" y="1316899"/>
        <a:ext cx="1466401" cy="977600"/>
      </dsp:txXfrm>
    </dsp:sp>
    <dsp:sp modelId="{2BE5D669-2D3F-4D43-A8E4-8A8AFD6802F8}">
      <dsp:nvSpPr>
        <dsp:cNvPr id="0" name=""/>
        <dsp:cNvSpPr/>
      </dsp:nvSpPr>
      <dsp:spPr>
        <a:xfrm>
          <a:off x="6605373" y="1316899"/>
          <a:ext cx="2444001" cy="977600"/>
        </a:xfrm>
        <a:prstGeom prst="chevron">
          <a:avLst/>
        </a:prstGeom>
        <a:solidFill>
          <a:srgbClr val="301B5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Speckle Filtering</a:t>
          </a:r>
          <a:endParaRPr lang="en-GB" sz="2000" kern="1200" dirty="0"/>
        </a:p>
      </dsp:txBody>
      <dsp:txXfrm>
        <a:off x="7094173" y="1316899"/>
        <a:ext cx="1466401" cy="977600"/>
      </dsp:txXfrm>
    </dsp:sp>
    <dsp:sp modelId="{C85ADB95-8BCB-4C87-9EB7-C68B29A11454}">
      <dsp:nvSpPr>
        <dsp:cNvPr id="0" name=""/>
        <dsp:cNvSpPr/>
      </dsp:nvSpPr>
      <dsp:spPr>
        <a:xfrm>
          <a:off x="8804975" y="1316899"/>
          <a:ext cx="2444001" cy="977600"/>
        </a:xfrm>
        <a:prstGeom prst="chevron">
          <a:avLst/>
        </a:prstGeom>
        <a:solidFill>
          <a:srgbClr val="301B5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Terrain Correction</a:t>
          </a:r>
          <a:endParaRPr lang="en-GB" sz="2000" kern="1200" dirty="0"/>
        </a:p>
      </dsp:txBody>
      <dsp:txXfrm>
        <a:off x="9293775" y="1316899"/>
        <a:ext cx="1466401" cy="977600"/>
      </dsp:txXfrm>
    </dsp:sp>
    <dsp:sp modelId="{8C09874B-1005-4BD8-B73B-F936231F327A}">
      <dsp:nvSpPr>
        <dsp:cNvPr id="0" name=""/>
        <dsp:cNvSpPr/>
      </dsp:nvSpPr>
      <dsp:spPr>
        <a:xfrm>
          <a:off x="11004576" y="1316899"/>
          <a:ext cx="2444001" cy="977600"/>
        </a:xfrm>
        <a:prstGeom prst="chevron">
          <a:avLst/>
        </a:prstGeom>
        <a:solidFill>
          <a:srgbClr val="301B5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Dual Polarization Sigma0 dB</a:t>
          </a:r>
          <a:endParaRPr lang="en-GB" sz="2000" kern="1200" dirty="0"/>
        </a:p>
      </dsp:txBody>
      <dsp:txXfrm>
        <a:off x="11493376" y="1316899"/>
        <a:ext cx="1466401" cy="9776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5CA141-4838-4C66-B2AD-536EF6909EAE}" type="datetimeFigureOut">
              <a:rPr lang="en-GB" smtClean="0"/>
              <a:t>11/12/2025</a:t>
            </a:fld>
            <a:endParaRPr lang="en-GB"/>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4D8BF1-905E-4689-A906-7907731663DB}" type="slidenum">
              <a:rPr lang="en-GB" smtClean="0"/>
              <a:t>‹#›</a:t>
            </a:fld>
            <a:endParaRPr lang="en-GB"/>
          </a:p>
        </p:txBody>
      </p:sp>
    </p:spTree>
    <p:extLst>
      <p:ext uri="{BB962C8B-B14F-4D97-AF65-F5344CB8AC3E}">
        <p14:creationId xmlns:p14="http://schemas.microsoft.com/office/powerpoint/2010/main" val="4042043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i="1" dirty="0"/>
              <a:t>The original dataset used for deforestation mapping is replaced with Sentinel-1 GRD ocean imagery, requiring adjustments in preprocessing steps.</a:t>
            </a:r>
            <a:endParaRPr lang="en-US" dirty="0"/>
          </a:p>
          <a:p>
            <a:r>
              <a:rPr lang="en-US" i="1" dirty="0"/>
              <a:t>SAR-specific operations such as radiometric calibration, speckle filtering, and terrain correction are applied to prepare the data.</a:t>
            </a:r>
            <a:endParaRPr lang="en-US" dirty="0"/>
          </a:p>
          <a:p>
            <a:r>
              <a:rPr lang="en-US" i="1" dirty="0"/>
              <a:t>Labels are adapted to represent oil spill regions, requiring </a:t>
            </a:r>
            <a:r>
              <a:rPr lang="en-US" i="1" dirty="0" err="1"/>
              <a:t>binarisation</a:t>
            </a:r>
            <a:r>
              <a:rPr lang="en-US" i="1" dirty="0"/>
              <a:t> and reformatting to match the input pipeline.</a:t>
            </a:r>
            <a:endParaRPr lang="en-US" dirty="0"/>
          </a:p>
          <a:p>
            <a:r>
              <a:rPr lang="en-US" i="1" dirty="0"/>
              <a:t>Image patching, resizing, and </a:t>
            </a:r>
            <a:r>
              <a:rPr lang="en-US" i="1" dirty="0" err="1"/>
              <a:t>normalisation</a:t>
            </a:r>
            <a:r>
              <a:rPr lang="en-US" i="1" dirty="0"/>
              <a:t> are revised to suit the characteristics of marine spill patterns</a:t>
            </a:r>
            <a:endParaRPr lang="en-US" dirty="0"/>
          </a:p>
        </p:txBody>
      </p:sp>
      <p:sp>
        <p:nvSpPr>
          <p:cNvPr id="4" name="Slide Number Placeholder 3"/>
          <p:cNvSpPr>
            <a:spLocks noGrp="1"/>
          </p:cNvSpPr>
          <p:nvPr>
            <p:ph type="sldNum" sz="quarter" idx="5"/>
          </p:nvPr>
        </p:nvSpPr>
        <p:spPr/>
        <p:txBody>
          <a:bodyPr/>
          <a:lstStyle/>
          <a:p>
            <a:fld id="{544D8BF1-905E-4689-A906-7907731663DB}" type="slidenum">
              <a:rPr lang="en-GB" smtClean="0"/>
              <a:t>1</a:t>
            </a:fld>
            <a:endParaRPr lang="en-GB"/>
          </a:p>
        </p:txBody>
      </p:sp>
    </p:spTree>
    <p:extLst>
      <p:ext uri="{BB962C8B-B14F-4D97-AF65-F5344CB8AC3E}">
        <p14:creationId xmlns:p14="http://schemas.microsoft.com/office/powerpoint/2010/main" val="3484744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0 Landscape Poster - 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bg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2939639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0 Landscape Poster -  3 column guid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12816288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8899">
          <p15:clr>
            <a:srgbClr val="FBAE40"/>
          </p15:clr>
        </p15:guide>
        <p15:guide id="2" pos="9353">
          <p15:clr>
            <a:srgbClr val="FBAE40"/>
          </p15:clr>
        </p15:guide>
        <p15:guide id="3" pos="17608">
          <p15:clr>
            <a:srgbClr val="FBAE40"/>
          </p15:clr>
        </p15:guide>
        <p15:guide id="4" pos="1806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0 Landscape Poster - 3 columns v2">
    <p:bg>
      <p:bgPr>
        <a:solidFill>
          <a:srgbClr val="E6E6E6"/>
        </a:solid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351" y="5281054"/>
            <a:ext cx="13104812" cy="8273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a:extLst>
              <a:ext uri="{C183D7F6-B498-43B3-948B-1728B52AA6E4}">
                <adec:decorative xmlns:adec="http://schemas.microsoft.com/office/drawing/2017/decorative" val="0"/>
              </a:ext>
            </a:extLst>
          </p:cNvPr>
          <p:cNvSpPr>
            <a:spLocks noGrp="1"/>
          </p:cNvSpPr>
          <p:nvPr>
            <p:ph sz="quarter" idx="18" hasCustomPrompt="1"/>
          </p:nvPr>
        </p:nvSpPr>
        <p:spPr>
          <a:xfrm>
            <a:off x="1022351" y="5291149"/>
            <a:ext cx="13104812" cy="827302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4290306"/>
            <a:ext cx="13104000" cy="133053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 name="Content Placeholder 4"/>
          <p:cNvSpPr>
            <a:spLocks noGrp="1"/>
          </p:cNvSpPr>
          <p:nvPr>
            <p:ph sz="quarter" idx="22" hasCustomPrompt="1"/>
          </p:nvPr>
        </p:nvSpPr>
        <p:spPr>
          <a:xfrm>
            <a:off x="1022400" y="14290306"/>
            <a:ext cx="13104000" cy="1330537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58565" y="5281054"/>
            <a:ext cx="13094134" cy="139141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57200" y="5281054"/>
            <a:ext cx="13095499" cy="1391414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14858237" y="19889788"/>
            <a:ext cx="13094463" cy="7705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2"/>
          <p:cNvSpPr>
            <a:spLocks noGrp="1"/>
          </p:cNvSpPr>
          <p:nvPr>
            <p:ph sz="quarter" idx="20" hasCustomPrompt="1"/>
          </p:nvPr>
        </p:nvSpPr>
        <p:spPr>
          <a:xfrm>
            <a:off x="14858236" y="19889788"/>
            <a:ext cx="13094463" cy="770589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C183D7F6-B498-43B3-948B-1728B52AA6E4}">
                <adec:decorative xmlns:adec="http://schemas.microsoft.com/office/drawing/2017/decorative" val="1"/>
              </a:ext>
            </a:extLst>
          </p:cNvPr>
          <p:cNvSpPr/>
          <p:nvPr/>
        </p:nvSpPr>
        <p:spPr>
          <a:xfrm>
            <a:off x="28674000" y="5281054"/>
            <a:ext cx="13104000" cy="103064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2"/>
          <p:cNvSpPr>
            <a:spLocks noGrp="1"/>
          </p:cNvSpPr>
          <p:nvPr>
            <p:ph sz="quarter" idx="17" hasCustomPrompt="1"/>
          </p:nvPr>
        </p:nvSpPr>
        <p:spPr>
          <a:xfrm>
            <a:off x="28674000" y="5273979"/>
            <a:ext cx="13104000" cy="1031353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74000" y="16192500"/>
            <a:ext cx="13104000" cy="11401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74000" y="16192500"/>
            <a:ext cx="13104000" cy="114031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2396510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guide id="2" pos="8899">
          <p15:clr>
            <a:srgbClr val="FBAE40"/>
          </p15:clr>
        </p15:guide>
        <p15:guide id="3" pos="9353">
          <p15:clr>
            <a:srgbClr val="FBAE40"/>
          </p15:clr>
        </p15:guide>
        <p15:guide id="4" pos="17608">
          <p15:clr>
            <a:srgbClr val="FBAE40"/>
          </p15:clr>
        </p15:guide>
        <p15:guide id="5" pos="180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0 Landscape Poster -  4 column guid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descr="Authors"/>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descr="Department or institution"/>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descr="Exclusion area"/>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descr="Contact details"/>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descr="Collaborator logos"/>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15968392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13254">
          <p15:clr>
            <a:srgbClr val="FBAE40"/>
          </p15:clr>
        </p15:guide>
        <p15:guide id="41" pos="13707">
          <p15:clr>
            <a:srgbClr val="FBAE40"/>
          </p15:clr>
        </p15:guide>
        <p15:guide id="42" pos="6722">
          <p15:clr>
            <a:srgbClr val="FBAE40"/>
          </p15:clr>
        </p15:guide>
        <p15:guide id="43" pos="7176">
          <p15:clr>
            <a:srgbClr val="FBAE40"/>
          </p15:clr>
        </p15:guide>
        <p15:guide id="44" pos="20239">
          <p15:clr>
            <a:srgbClr val="FBAE40"/>
          </p15:clr>
        </p15:guide>
        <p15:guide id="45" pos="1978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0 Landscape Poster -  4 columns v1">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GB" dirty="0"/>
              <a:t> </a:t>
            </a:r>
            <a:r>
              <a:rPr lang="en-US" dirty="0"/>
              <a:t>–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 name="Rectangle 1">
            <a:extLst>
              <a:ext uri="{C183D7F6-B498-43B3-948B-1728B52AA6E4}">
                <adec:decorative xmlns:adec="http://schemas.microsoft.com/office/drawing/2017/decorative" val="1"/>
              </a:ext>
            </a:extLst>
          </p:cNvPr>
          <p:cNvSpPr/>
          <p:nvPr/>
        </p:nvSpPr>
        <p:spPr>
          <a:xfrm>
            <a:off x="1022400"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 name="Content Placeholder 3"/>
          <p:cNvSpPr>
            <a:spLocks noGrp="1"/>
          </p:cNvSpPr>
          <p:nvPr>
            <p:ph sz="quarter" idx="15" hasCustomPrompt="1"/>
          </p:nvPr>
        </p:nvSpPr>
        <p:spPr>
          <a:xfrm>
            <a:off x="1022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i="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11417536" y="5856016"/>
            <a:ext cx="9623189"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6" hasCustomPrompt="1"/>
          </p:nvPr>
        </p:nvSpPr>
        <p:spPr>
          <a:xfrm>
            <a:off x="11417535" y="5856016"/>
            <a:ext cx="9623189"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8" name="Rectangle 17">
            <a:extLst>
              <a:ext uri="{C183D7F6-B498-43B3-948B-1728B52AA6E4}">
                <adec:decorative xmlns:adec="http://schemas.microsoft.com/office/drawing/2017/decorative" val="1"/>
              </a:ext>
            </a:extLst>
          </p:cNvPr>
          <p:cNvSpPr/>
          <p:nvPr/>
        </p:nvSpPr>
        <p:spPr>
          <a:xfrm>
            <a:off x="21743509"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 name="Content Placeholder 3"/>
          <p:cNvSpPr>
            <a:spLocks noGrp="1"/>
          </p:cNvSpPr>
          <p:nvPr>
            <p:ph sz="quarter" idx="17" hasCustomPrompt="1"/>
          </p:nvPr>
        </p:nvSpPr>
        <p:spPr>
          <a:xfrm>
            <a:off x="21743509"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Rectangle 19">
            <a:extLst>
              <a:ext uri="{C183D7F6-B498-43B3-948B-1728B52AA6E4}">
                <adec:decorative xmlns:adec="http://schemas.microsoft.com/office/drawing/2017/decorative" val="1"/>
              </a:ext>
            </a:extLst>
          </p:cNvPr>
          <p:cNvSpPr/>
          <p:nvPr/>
        </p:nvSpPr>
        <p:spPr>
          <a:xfrm>
            <a:off x="32127972"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3"/>
          <p:cNvSpPr>
            <a:spLocks noGrp="1"/>
          </p:cNvSpPr>
          <p:nvPr>
            <p:ph sz="quarter" idx="18" hasCustomPrompt="1"/>
          </p:nvPr>
        </p:nvSpPr>
        <p:spPr>
          <a:xfrm>
            <a:off x="32126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8011288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15:clr>
            <a:srgbClr val="FBAE40"/>
          </p15:clr>
        </p15:guide>
        <p15:guide id="40" orient="horz" pos="3684">
          <p15:clr>
            <a:srgbClr val="FBAE40"/>
          </p15:clr>
        </p15:guide>
        <p15:guide id="41" pos="13254">
          <p15:clr>
            <a:srgbClr val="FBAE40"/>
          </p15:clr>
        </p15:guide>
        <p15:guide id="42" pos="13707">
          <p15:clr>
            <a:srgbClr val="FBAE40"/>
          </p15:clr>
        </p15:guide>
        <p15:guide id="45" pos="19785">
          <p15:clr>
            <a:srgbClr val="FBAE40"/>
          </p15:clr>
        </p15:guide>
        <p15:guide id="46" pos="20239">
          <p15:clr>
            <a:srgbClr val="FBAE40"/>
          </p15:clr>
        </p15:guide>
        <p15:guide id="47" pos="7176">
          <p15:clr>
            <a:srgbClr val="FBAE40"/>
          </p15:clr>
        </p15:guide>
        <p15:guide id="48" pos="672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0 Landscape Poster - 3 columns, 7 box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1029757"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9757"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1022400" y="22698075"/>
            <a:ext cx="9647284" cy="4897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8075"/>
            <a:ext cx="9647284" cy="48974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403021" y="5857200"/>
            <a:ext cx="20005667" cy="21738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403021" y="5857200"/>
            <a:ext cx="20005667" cy="217383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1435"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1435"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7" name="Rectangle 36">
            <a:extLst>
              <a:ext uri="{C183D7F6-B498-43B3-948B-1728B52AA6E4}">
                <adec:decorative xmlns:adec="http://schemas.microsoft.com/office/drawing/2017/decorative" val="1"/>
              </a:ext>
            </a:extLst>
          </p:cNvPr>
          <p:cNvSpPr/>
          <p:nvPr/>
        </p:nvSpPr>
        <p:spPr>
          <a:xfrm>
            <a:off x="32130000" y="11456066"/>
            <a:ext cx="9647284"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0000" y="11456066"/>
            <a:ext cx="9647284"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9" name="Rectangle 38">
            <a:extLst>
              <a:ext uri="{C183D7F6-B498-43B3-948B-1728B52AA6E4}">
                <adec:decorative xmlns:adec="http://schemas.microsoft.com/office/drawing/2017/decorative" val="1"/>
              </a:ext>
            </a:extLst>
          </p:cNvPr>
          <p:cNvSpPr/>
          <p:nvPr/>
        </p:nvSpPr>
        <p:spPr>
          <a:xfrm>
            <a:off x="32130000" y="19920313"/>
            <a:ext cx="9647284" cy="767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0000" y="19919601"/>
            <a:ext cx="9647284" cy="767591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3573721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7176">
          <p15:clr>
            <a:srgbClr val="FBAE40"/>
          </p15:clr>
        </p15:guide>
        <p15:guide id="41" pos="19785">
          <p15:clr>
            <a:srgbClr val="FBAE40"/>
          </p15:clr>
        </p15:guide>
        <p15:guide id="42" pos="6722">
          <p15:clr>
            <a:srgbClr val="FBAE40"/>
          </p15:clr>
        </p15:guide>
        <p15:guide id="43" pos="202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0 Landscape Poster -  4 columns v2">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87007"/>
            <a:ext cx="9647284" cy="4906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87007"/>
            <a:ext cx="9647284" cy="49069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8" name="Rectangle 7">
            <a:extLst>
              <a:ext uri="{C183D7F6-B498-43B3-948B-1728B52AA6E4}">
                <adec:decorative xmlns:adec="http://schemas.microsoft.com/office/drawing/2017/decorative" val="1"/>
              </a:ext>
            </a:extLst>
          </p:cNvPr>
          <p:cNvSpPr/>
          <p:nvPr/>
        </p:nvSpPr>
        <p:spPr>
          <a:xfrm>
            <a:off x="11389828" y="5857200"/>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89828"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21764130" y="5857199"/>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21764130"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9088" y="5857200"/>
            <a:ext cx="9639150"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9088" y="5857200"/>
            <a:ext cx="9639150"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9088" y="11456066"/>
            <a:ext cx="9639150"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9088" y="11456066"/>
            <a:ext cx="9639150"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9088" y="19879186"/>
            <a:ext cx="9639150" cy="7717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9088" y="19879186"/>
            <a:ext cx="9639150" cy="771770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26366839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0" orient="horz" pos="3684">
          <p15:clr>
            <a:srgbClr val="FBAE40"/>
          </p15:clr>
        </p15:guide>
        <p15:guide id="41" pos="13254">
          <p15:clr>
            <a:srgbClr val="FBAE40"/>
          </p15:clr>
        </p15:guide>
        <p15:guide id="42" pos="19785">
          <p15:clr>
            <a:srgbClr val="FBAE40"/>
          </p15:clr>
        </p15:guide>
        <p15:guide id="43" pos="20239">
          <p15:clr>
            <a:srgbClr val="FBAE40"/>
          </p15:clr>
        </p15:guide>
        <p15:guide id="44" pos="1370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0 Landscape Poster - 3 columns, 11 boxes v1">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200"/>
            <a:ext cx="9647284" cy="770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200"/>
            <a:ext cx="9647284" cy="770627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95215"/>
            <a:ext cx="9647284" cy="49002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5215"/>
            <a:ext cx="9647284" cy="490029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2" name="Rectangle 11">
            <a:extLst>
              <a:ext uri="{C183D7F6-B498-43B3-948B-1728B52AA6E4}">
                <adec:decorative xmlns:adec="http://schemas.microsoft.com/office/drawing/2017/decorative" val="1"/>
              </a:ext>
            </a:extLst>
          </p:cNvPr>
          <p:cNvSpPr/>
          <p:nvPr/>
        </p:nvSpPr>
        <p:spPr>
          <a:xfrm>
            <a:off x="11392485" y="5857200"/>
            <a:ext cx="6169504"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11392485" y="5857200"/>
            <a:ext cx="6169504"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6" name="Rectangle 25">
            <a:extLst>
              <a:ext uri="{C183D7F6-B498-43B3-948B-1728B52AA6E4}">
                <adec:decorative xmlns:adec="http://schemas.microsoft.com/office/drawing/2017/decorative" val="1"/>
              </a:ext>
            </a:extLst>
          </p:cNvPr>
          <p:cNvSpPr/>
          <p:nvPr/>
        </p:nvSpPr>
        <p:spPr>
          <a:xfrm>
            <a:off x="18313200"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7" name="Content Placeholder 3"/>
          <p:cNvSpPr>
            <a:spLocks noGrp="1"/>
          </p:cNvSpPr>
          <p:nvPr>
            <p:ph sz="quarter" idx="26" hasCustomPrompt="1"/>
          </p:nvPr>
        </p:nvSpPr>
        <p:spPr>
          <a:xfrm>
            <a:off x="18313200"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5238859"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3"/>
          <p:cNvSpPr>
            <a:spLocks noGrp="1"/>
          </p:cNvSpPr>
          <p:nvPr>
            <p:ph sz="quarter" idx="27" hasCustomPrompt="1"/>
          </p:nvPr>
        </p:nvSpPr>
        <p:spPr>
          <a:xfrm>
            <a:off x="25238859"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392484"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92484"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21764940"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3"/>
          <p:cNvSpPr>
            <a:spLocks noGrp="1"/>
          </p:cNvSpPr>
          <p:nvPr>
            <p:ph sz="quarter" idx="25" hasCustomPrompt="1"/>
          </p:nvPr>
        </p:nvSpPr>
        <p:spPr>
          <a:xfrm>
            <a:off x="21764940"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4764"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4764"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4764" y="11478368"/>
            <a:ext cx="9647284" cy="76922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4764" y="11478368"/>
            <a:ext cx="9647284" cy="76922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4764" y="19879943"/>
            <a:ext cx="9647284" cy="77155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4764" y="19879943"/>
            <a:ext cx="9647284" cy="77155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0195176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os="6722">
          <p15:clr>
            <a:srgbClr val="FBAE40"/>
          </p15:clr>
        </p15:guide>
        <p15:guide id="41" pos="7176">
          <p15:clr>
            <a:srgbClr val="FBAE40"/>
          </p15:clr>
        </p15:guide>
        <p15:guide id="45" pos="19785">
          <p15:clr>
            <a:srgbClr val="FBAE40"/>
          </p15:clr>
        </p15:guide>
        <p15:guide id="46" pos="202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0 Landscape Poster -  3 columns, 13 box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indent="0">
              <a:buNone/>
              <a:defRPr sz="4800" b="1" baseline="0">
                <a:solidFill>
                  <a:schemeClr val="bg1"/>
                </a:solidFill>
                <a:latin typeface="+mj-lt"/>
              </a:defRPr>
            </a:lvl1pPr>
          </a:lstStyle>
          <a:p>
            <a:pPr lvl="0"/>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400" y="5857200"/>
            <a:ext cx="13104763" cy="10474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p:cNvSpPr>
            <a:spLocks noGrp="1"/>
          </p:cNvSpPr>
          <p:nvPr>
            <p:ph sz="quarter" idx="18" hasCustomPrompt="1"/>
          </p:nvPr>
        </p:nvSpPr>
        <p:spPr>
          <a:xfrm>
            <a:off x="1022400" y="5857200"/>
            <a:ext cx="13104763" cy="104742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7077765"/>
            <a:ext cx="6192788" cy="104993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6" name="Content Placeholder 2"/>
          <p:cNvSpPr>
            <a:spLocks noGrp="1"/>
          </p:cNvSpPr>
          <p:nvPr>
            <p:ph sz="quarter" idx="22" hasCustomPrompt="1"/>
          </p:nvPr>
        </p:nvSpPr>
        <p:spPr>
          <a:xfrm>
            <a:off x="1022400" y="17078609"/>
            <a:ext cx="6192788" cy="1049853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7" name="Rectangle 26">
            <a:extLst>
              <a:ext uri="{C183D7F6-B498-43B3-948B-1728B52AA6E4}">
                <adec:decorative xmlns:adec="http://schemas.microsoft.com/office/drawing/2017/decorative" val="1"/>
              </a:ext>
            </a:extLst>
          </p:cNvPr>
          <p:cNvSpPr/>
          <p:nvPr/>
        </p:nvSpPr>
        <p:spPr>
          <a:xfrm>
            <a:off x="7945349" y="17076920"/>
            <a:ext cx="6181814" cy="10500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0" name="Content Placeholder 2"/>
          <p:cNvSpPr>
            <a:spLocks noGrp="1"/>
          </p:cNvSpPr>
          <p:nvPr>
            <p:ph sz="quarter" idx="23" hasCustomPrompt="1"/>
          </p:nvPr>
        </p:nvSpPr>
        <p:spPr>
          <a:xfrm>
            <a:off x="7945349" y="17077765"/>
            <a:ext cx="6181814" cy="1049937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61102" y="5857200"/>
            <a:ext cx="13090778" cy="76942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61102" y="5857200"/>
            <a:ext cx="13090778" cy="770003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3" name="Rectangle 42">
            <a:extLst>
              <a:ext uri="{C183D7F6-B498-43B3-948B-1728B52AA6E4}">
                <adec:decorative xmlns:adec="http://schemas.microsoft.com/office/drawing/2017/decorative" val="1"/>
              </a:ext>
            </a:extLst>
          </p:cNvPr>
          <p:cNvSpPr/>
          <p:nvPr/>
        </p:nvSpPr>
        <p:spPr>
          <a:xfrm>
            <a:off x="14861102" y="14273214"/>
            <a:ext cx="13104000" cy="133044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Content Placeholder 2"/>
          <p:cNvSpPr>
            <a:spLocks noGrp="1"/>
          </p:cNvSpPr>
          <p:nvPr>
            <p:ph sz="quarter" idx="30" hasCustomPrompt="1"/>
          </p:nvPr>
        </p:nvSpPr>
        <p:spPr>
          <a:xfrm>
            <a:off x="14861102" y="14273213"/>
            <a:ext cx="13104000" cy="133044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28689442" y="5857200"/>
            <a:ext cx="6176821"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2"/>
          <p:cNvSpPr>
            <a:spLocks noGrp="1"/>
          </p:cNvSpPr>
          <p:nvPr>
            <p:ph sz="quarter" idx="24" hasCustomPrompt="1"/>
          </p:nvPr>
        </p:nvSpPr>
        <p:spPr>
          <a:xfrm>
            <a:off x="28689442" y="5857200"/>
            <a:ext cx="6176821"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35603825" y="5857200"/>
            <a:ext cx="6177600"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2"/>
          <p:cNvSpPr>
            <a:spLocks noGrp="1"/>
          </p:cNvSpPr>
          <p:nvPr>
            <p:ph sz="quarter" idx="25" hasCustomPrompt="1"/>
          </p:nvPr>
        </p:nvSpPr>
        <p:spPr>
          <a:xfrm>
            <a:off x="35603825" y="5857200"/>
            <a:ext cx="6177600"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28689442" y="14273190"/>
            <a:ext cx="6176821" cy="4895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2"/>
          <p:cNvSpPr>
            <a:spLocks noGrp="1"/>
          </p:cNvSpPr>
          <p:nvPr>
            <p:ph sz="quarter" idx="26" hasCustomPrompt="1"/>
          </p:nvPr>
        </p:nvSpPr>
        <p:spPr>
          <a:xfrm>
            <a:off x="28689442" y="14273190"/>
            <a:ext cx="6176821" cy="48956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5603825" y="14273219"/>
            <a:ext cx="6177600" cy="4897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2"/>
          <p:cNvSpPr>
            <a:spLocks noGrp="1"/>
          </p:cNvSpPr>
          <p:nvPr>
            <p:ph sz="quarter" idx="27" hasCustomPrompt="1"/>
          </p:nvPr>
        </p:nvSpPr>
        <p:spPr>
          <a:xfrm>
            <a:off x="35603825" y="14273213"/>
            <a:ext cx="6177600" cy="48970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39" name="Rectangle 38">
            <a:extLst>
              <a:ext uri="{C183D7F6-B498-43B3-948B-1728B52AA6E4}">
                <adec:decorative xmlns:adec="http://schemas.microsoft.com/office/drawing/2017/decorative" val="1"/>
              </a:ext>
            </a:extLst>
          </p:cNvPr>
          <p:cNvSpPr/>
          <p:nvPr/>
        </p:nvSpPr>
        <p:spPr>
          <a:xfrm>
            <a:off x="28689442" y="19905965"/>
            <a:ext cx="6176821"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2"/>
          <p:cNvSpPr>
            <a:spLocks noGrp="1"/>
          </p:cNvSpPr>
          <p:nvPr>
            <p:ph sz="quarter" idx="28" hasCustomPrompt="1"/>
          </p:nvPr>
        </p:nvSpPr>
        <p:spPr>
          <a:xfrm>
            <a:off x="28689442" y="19905964"/>
            <a:ext cx="6176821"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1" name="Rectangle 40">
            <a:extLst>
              <a:ext uri="{C183D7F6-B498-43B3-948B-1728B52AA6E4}">
                <adec:decorative xmlns:adec="http://schemas.microsoft.com/office/drawing/2017/decorative" val="1"/>
              </a:ext>
            </a:extLst>
          </p:cNvPr>
          <p:cNvSpPr/>
          <p:nvPr/>
        </p:nvSpPr>
        <p:spPr>
          <a:xfrm>
            <a:off x="35603825" y="19905965"/>
            <a:ext cx="6177600"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2" name="Content Placeholder 2"/>
          <p:cNvSpPr>
            <a:spLocks noGrp="1"/>
          </p:cNvSpPr>
          <p:nvPr>
            <p:ph sz="quarter" idx="29" hasCustomPrompt="1"/>
          </p:nvPr>
        </p:nvSpPr>
        <p:spPr>
          <a:xfrm>
            <a:off x="35603825" y="19905964"/>
            <a:ext cx="6177600"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89442" y="25505739"/>
            <a:ext cx="13088796" cy="20714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89442" y="25506363"/>
            <a:ext cx="13088796" cy="207078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571845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8" orient="horz" pos="3689">
          <p15:clr>
            <a:srgbClr val="FBAE40"/>
          </p15:clr>
        </p15:guide>
        <p15:guide id="39" orient="horz" pos="18245">
          <p15:clr>
            <a:srgbClr val="FBAE40"/>
          </p15:clr>
        </p15:guide>
        <p15:guide id="41" pos="18062">
          <p15:clr>
            <a:srgbClr val="FBAE40"/>
          </p15:clr>
        </p15:guide>
        <p15:guide id="42" pos="17608">
          <p15:clr>
            <a:srgbClr val="FBAE40"/>
          </p15:clr>
        </p15:guide>
        <p15:guide id="43" pos="9353">
          <p15:clr>
            <a:srgbClr val="FBAE40"/>
          </p15:clr>
        </p15:guide>
        <p15:guide id="44" pos="889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0 Landscape Poster -  3 columns, 11 boxes v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bg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9" name="Rectangle 8">
            <a:extLst>
              <a:ext uri="{FF2B5EF4-FFF2-40B4-BE49-F238E27FC236}">
                <a16:creationId xmlns:a16="http://schemas.microsoft.com/office/drawing/2014/main" id="{8B43F24F-F0FB-412D-9664-1168B0AE1CEF}"/>
              </a:ext>
              <a:ext uri="{C183D7F6-B498-43B3-948B-1728B52AA6E4}">
                <adec:decorative xmlns:adec="http://schemas.microsoft.com/office/drawing/2017/decorative" val="1"/>
              </a:ext>
            </a:extLst>
          </p:cNvPr>
          <p:cNvSpPr/>
          <p:nvPr/>
        </p:nvSpPr>
        <p:spPr>
          <a:xfrm>
            <a:off x="1020132" y="5859463"/>
            <a:ext cx="17416624"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53CD4AAC-44F7-4065-A428-4A870F2B2CEF}"/>
              </a:ext>
            </a:extLst>
          </p:cNvPr>
          <p:cNvSpPr>
            <a:spLocks noGrp="1"/>
          </p:cNvSpPr>
          <p:nvPr>
            <p:ph sz="quarter" idx="15" hasCustomPrompt="1"/>
          </p:nvPr>
        </p:nvSpPr>
        <p:spPr>
          <a:xfrm>
            <a:off x="1022351" y="5859786"/>
            <a:ext cx="17415944" cy="105048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0" name="Rectangle 9">
            <a:extLst>
              <a:ext uri="{FF2B5EF4-FFF2-40B4-BE49-F238E27FC236}">
                <a16:creationId xmlns:a16="http://schemas.microsoft.com/office/drawing/2014/main" id="{1AB46ECE-0E13-4515-9430-332A23640361}"/>
              </a:ext>
              <a:ext uri="{C183D7F6-B498-43B3-948B-1728B52AA6E4}">
                <adec:decorative xmlns:adec="http://schemas.microsoft.com/office/drawing/2017/decorative" val="1"/>
              </a:ext>
            </a:extLst>
          </p:cNvPr>
          <p:cNvSpPr/>
          <p:nvPr/>
        </p:nvSpPr>
        <p:spPr>
          <a:xfrm>
            <a:off x="1020132" y="17104383"/>
            <a:ext cx="9637974" cy="1049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3" name="Content Placeholder 32">
            <a:extLst>
              <a:ext uri="{FF2B5EF4-FFF2-40B4-BE49-F238E27FC236}">
                <a16:creationId xmlns:a16="http://schemas.microsoft.com/office/drawing/2014/main" id="{6BCD20C3-2203-4639-8AA5-6E0473699AB7}"/>
              </a:ext>
            </a:extLst>
          </p:cNvPr>
          <p:cNvSpPr>
            <a:spLocks noGrp="1"/>
          </p:cNvSpPr>
          <p:nvPr>
            <p:ph sz="quarter" idx="16" hasCustomPrompt="1"/>
          </p:nvPr>
        </p:nvSpPr>
        <p:spPr>
          <a:xfrm>
            <a:off x="1022351" y="17104383"/>
            <a:ext cx="9635332" cy="104904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1" name="Rectangle 10">
            <a:extLst>
              <a:ext uri="{FF2B5EF4-FFF2-40B4-BE49-F238E27FC236}">
                <a16:creationId xmlns:a16="http://schemas.microsoft.com/office/drawing/2014/main" id="{629FEC58-A4F3-4197-81B4-E6B1FBA9593F}"/>
              </a:ext>
              <a:ext uri="{C183D7F6-B498-43B3-948B-1728B52AA6E4}">
                <adec:decorative xmlns:adec="http://schemas.microsoft.com/office/drawing/2017/decorative" val="1"/>
              </a:ext>
            </a:extLst>
          </p:cNvPr>
          <p:cNvSpPr/>
          <p:nvPr/>
        </p:nvSpPr>
        <p:spPr>
          <a:xfrm>
            <a:off x="11391901" y="17105379"/>
            <a:ext cx="7044858" cy="10489404"/>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5" name="Content Placeholder 34">
            <a:extLst>
              <a:ext uri="{FF2B5EF4-FFF2-40B4-BE49-F238E27FC236}">
                <a16:creationId xmlns:a16="http://schemas.microsoft.com/office/drawing/2014/main" id="{E2C72D6E-B012-4960-AFAF-2935F5655271}"/>
              </a:ext>
            </a:extLst>
          </p:cNvPr>
          <p:cNvSpPr>
            <a:spLocks noGrp="1"/>
          </p:cNvSpPr>
          <p:nvPr>
            <p:ph sz="quarter" idx="17" hasCustomPrompt="1"/>
          </p:nvPr>
        </p:nvSpPr>
        <p:spPr>
          <a:xfrm>
            <a:off x="11390572" y="17103637"/>
            <a:ext cx="7047259" cy="104911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7" name="Rectangle 16">
            <a:extLst>
              <a:ext uri="{FF2B5EF4-FFF2-40B4-BE49-F238E27FC236}">
                <a16:creationId xmlns:a16="http://schemas.microsoft.com/office/drawing/2014/main" id="{63912914-2747-4DDE-8D76-5195595D4A64}"/>
              </a:ext>
              <a:ext uri="{C183D7F6-B498-43B3-948B-1728B52AA6E4}">
                <adec:decorative xmlns:adec="http://schemas.microsoft.com/office/drawing/2017/decorative" val="1"/>
              </a:ext>
            </a:extLst>
          </p:cNvPr>
          <p:cNvSpPr/>
          <p:nvPr/>
        </p:nvSpPr>
        <p:spPr>
          <a:xfrm>
            <a:off x="19187327" y="5859464"/>
            <a:ext cx="12210169" cy="769674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6" name="Content Placeholder 35">
            <a:extLst>
              <a:ext uri="{FF2B5EF4-FFF2-40B4-BE49-F238E27FC236}">
                <a16:creationId xmlns:a16="http://schemas.microsoft.com/office/drawing/2014/main" id="{28C20B94-8FCB-4CD3-BA6F-B68019414536}"/>
              </a:ext>
            </a:extLst>
          </p:cNvPr>
          <p:cNvSpPr>
            <a:spLocks noGrp="1"/>
          </p:cNvSpPr>
          <p:nvPr>
            <p:ph sz="quarter" idx="18" hasCustomPrompt="1"/>
          </p:nvPr>
        </p:nvSpPr>
        <p:spPr>
          <a:xfrm>
            <a:off x="19186575" y="5858717"/>
            <a:ext cx="12210169" cy="769535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FF2B5EF4-FFF2-40B4-BE49-F238E27FC236}">
                <a16:creationId xmlns:a16="http://schemas.microsoft.com/office/drawing/2014/main" id="{1BEB6CBD-170B-4F09-B2F0-698A9A96E623}"/>
              </a:ext>
              <a:ext uri="{C183D7F6-B498-43B3-948B-1728B52AA6E4}">
                <adec:decorative xmlns:adec="http://schemas.microsoft.com/office/drawing/2017/decorative" val="1"/>
              </a:ext>
            </a:extLst>
          </p:cNvPr>
          <p:cNvSpPr/>
          <p:nvPr/>
        </p:nvSpPr>
        <p:spPr>
          <a:xfrm>
            <a:off x="19200978" y="14286397"/>
            <a:ext cx="12210169" cy="7692541"/>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 name="Content Placeholder 36">
            <a:extLst>
              <a:ext uri="{FF2B5EF4-FFF2-40B4-BE49-F238E27FC236}">
                <a16:creationId xmlns:a16="http://schemas.microsoft.com/office/drawing/2014/main" id="{DCBBFD08-AD1E-491B-9C58-47D0A41FB674}"/>
              </a:ext>
            </a:extLst>
          </p:cNvPr>
          <p:cNvSpPr>
            <a:spLocks noGrp="1"/>
          </p:cNvSpPr>
          <p:nvPr>
            <p:ph sz="quarter" idx="19" hasCustomPrompt="1"/>
          </p:nvPr>
        </p:nvSpPr>
        <p:spPr>
          <a:xfrm>
            <a:off x="19200974" y="14285127"/>
            <a:ext cx="12210169" cy="769381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1" name="Rectangle 20">
            <a:extLst>
              <a:ext uri="{FF2B5EF4-FFF2-40B4-BE49-F238E27FC236}">
                <a16:creationId xmlns:a16="http://schemas.microsoft.com/office/drawing/2014/main" id="{F798A082-AC4D-4A8D-9CF2-9430DF1C5F78}"/>
              </a:ext>
              <a:ext uri="{C183D7F6-B498-43B3-948B-1728B52AA6E4}">
                <adec:decorative xmlns:adec="http://schemas.microsoft.com/office/drawing/2017/decorative" val="1"/>
              </a:ext>
            </a:extLst>
          </p:cNvPr>
          <p:cNvSpPr/>
          <p:nvPr/>
        </p:nvSpPr>
        <p:spPr>
          <a:xfrm>
            <a:off x="19200979" y="22703580"/>
            <a:ext cx="12211605" cy="4891203"/>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8" name="Content Placeholder 37">
            <a:extLst>
              <a:ext uri="{FF2B5EF4-FFF2-40B4-BE49-F238E27FC236}">
                <a16:creationId xmlns:a16="http://schemas.microsoft.com/office/drawing/2014/main" id="{69CB0982-D2DA-488C-998B-7DC9B88A3E1C}"/>
              </a:ext>
            </a:extLst>
          </p:cNvPr>
          <p:cNvSpPr>
            <a:spLocks noGrp="1"/>
          </p:cNvSpPr>
          <p:nvPr>
            <p:ph sz="quarter" idx="20" hasCustomPrompt="1"/>
          </p:nvPr>
        </p:nvSpPr>
        <p:spPr>
          <a:xfrm>
            <a:off x="19200976" y="22703644"/>
            <a:ext cx="12210168" cy="489113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FF2B5EF4-FFF2-40B4-BE49-F238E27FC236}">
                <a16:creationId xmlns:a16="http://schemas.microsoft.com/office/drawing/2014/main" id="{DE17EA3D-1D97-402B-951A-07B65353F3E1}"/>
              </a:ext>
              <a:ext uri="{C183D7F6-B498-43B3-948B-1728B52AA6E4}">
                <adec:decorative xmlns:adec="http://schemas.microsoft.com/office/drawing/2017/decorative" val="1"/>
              </a:ext>
            </a:extLst>
          </p:cNvPr>
          <p:cNvSpPr/>
          <p:nvPr/>
        </p:nvSpPr>
        <p:spPr>
          <a:xfrm>
            <a:off x="32133600" y="5857200"/>
            <a:ext cx="9643126"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9" name="Content Placeholder 38">
            <a:extLst>
              <a:ext uri="{FF2B5EF4-FFF2-40B4-BE49-F238E27FC236}">
                <a16:creationId xmlns:a16="http://schemas.microsoft.com/office/drawing/2014/main" id="{E3800366-A01C-4055-B3B8-37E3F51B2C3D}"/>
              </a:ext>
            </a:extLst>
          </p:cNvPr>
          <p:cNvSpPr>
            <a:spLocks noGrp="1"/>
          </p:cNvSpPr>
          <p:nvPr>
            <p:ph sz="quarter" idx="21" hasCustomPrompt="1"/>
          </p:nvPr>
        </p:nvSpPr>
        <p:spPr>
          <a:xfrm>
            <a:off x="32131986" y="5858717"/>
            <a:ext cx="9646252" cy="105036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3" name="Rectangle 12">
            <a:extLst>
              <a:ext uri="{FF2B5EF4-FFF2-40B4-BE49-F238E27FC236}">
                <a16:creationId xmlns:a16="http://schemas.microsoft.com/office/drawing/2014/main" id="{8DBB5D15-5B0D-4AD2-A799-ADC5BDBD177B}"/>
              </a:ext>
              <a:ext uri="{C183D7F6-B498-43B3-948B-1728B52AA6E4}">
                <adec:decorative xmlns:adec="http://schemas.microsoft.com/office/drawing/2017/decorative" val="1"/>
              </a:ext>
            </a:extLst>
          </p:cNvPr>
          <p:cNvSpPr/>
          <p:nvPr/>
        </p:nvSpPr>
        <p:spPr>
          <a:xfrm>
            <a:off x="32147841" y="17095791"/>
            <a:ext cx="4458885" cy="4883015"/>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0" name="Content Placeholder 39">
            <a:extLst>
              <a:ext uri="{FF2B5EF4-FFF2-40B4-BE49-F238E27FC236}">
                <a16:creationId xmlns:a16="http://schemas.microsoft.com/office/drawing/2014/main" id="{E8B00910-BAB4-498C-B8BA-9E5D259C2CDD}"/>
              </a:ext>
            </a:extLst>
          </p:cNvPr>
          <p:cNvSpPr>
            <a:spLocks noGrp="1"/>
          </p:cNvSpPr>
          <p:nvPr>
            <p:ph sz="quarter" idx="22" hasCustomPrompt="1"/>
          </p:nvPr>
        </p:nvSpPr>
        <p:spPr>
          <a:xfrm>
            <a:off x="32147841" y="17095987"/>
            <a:ext cx="4460069" cy="48829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6" name="Rectangle 15">
            <a:extLst>
              <a:ext uri="{FF2B5EF4-FFF2-40B4-BE49-F238E27FC236}">
                <a16:creationId xmlns:a16="http://schemas.microsoft.com/office/drawing/2014/main" id="{BBD276F9-89C3-4113-840D-B73A8EC65C36}"/>
              </a:ext>
              <a:ext uri="{C183D7F6-B498-43B3-948B-1728B52AA6E4}">
                <adec:decorative xmlns:adec="http://schemas.microsoft.com/office/drawing/2017/decorative" val="1"/>
              </a:ext>
            </a:extLst>
          </p:cNvPr>
          <p:cNvSpPr/>
          <p:nvPr/>
        </p:nvSpPr>
        <p:spPr>
          <a:xfrm>
            <a:off x="37341983" y="17095792"/>
            <a:ext cx="4436255" cy="4883146"/>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 name="Content Placeholder 40">
            <a:extLst>
              <a:ext uri="{FF2B5EF4-FFF2-40B4-BE49-F238E27FC236}">
                <a16:creationId xmlns:a16="http://schemas.microsoft.com/office/drawing/2014/main" id="{13F1650C-45E1-44EE-9057-F0205C66164C}"/>
              </a:ext>
            </a:extLst>
          </p:cNvPr>
          <p:cNvSpPr>
            <a:spLocks noGrp="1"/>
          </p:cNvSpPr>
          <p:nvPr>
            <p:ph sz="quarter" idx="23" hasCustomPrompt="1"/>
          </p:nvPr>
        </p:nvSpPr>
        <p:spPr>
          <a:xfrm>
            <a:off x="37340799" y="17095987"/>
            <a:ext cx="4435927" cy="48830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4" name="Rectangle 13">
            <a:extLst>
              <a:ext uri="{FF2B5EF4-FFF2-40B4-BE49-F238E27FC236}">
                <a16:creationId xmlns:a16="http://schemas.microsoft.com/office/drawing/2014/main" id="{36E3DF8E-C4AE-42AE-9D54-DAF4F3D3BE66}"/>
              </a:ext>
              <a:ext uri="{C183D7F6-B498-43B3-948B-1728B52AA6E4}">
                <adec:decorative xmlns:adec="http://schemas.microsoft.com/office/drawing/2017/decorative" val="1"/>
              </a:ext>
            </a:extLst>
          </p:cNvPr>
          <p:cNvSpPr/>
          <p:nvPr/>
        </p:nvSpPr>
        <p:spPr>
          <a:xfrm>
            <a:off x="32147841" y="22713183"/>
            <a:ext cx="4458885"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2" name="Content Placeholder 41">
            <a:extLst>
              <a:ext uri="{FF2B5EF4-FFF2-40B4-BE49-F238E27FC236}">
                <a16:creationId xmlns:a16="http://schemas.microsoft.com/office/drawing/2014/main" id="{C8755E73-48C4-4B30-AEC3-CF06E9993461}"/>
              </a:ext>
            </a:extLst>
          </p:cNvPr>
          <p:cNvSpPr>
            <a:spLocks noGrp="1"/>
          </p:cNvSpPr>
          <p:nvPr>
            <p:ph sz="quarter" idx="24" hasCustomPrompt="1"/>
          </p:nvPr>
        </p:nvSpPr>
        <p:spPr>
          <a:xfrm>
            <a:off x="32147841" y="22713183"/>
            <a:ext cx="4460069"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Rectangle 14">
            <a:extLst>
              <a:ext uri="{FF2B5EF4-FFF2-40B4-BE49-F238E27FC236}">
                <a16:creationId xmlns:a16="http://schemas.microsoft.com/office/drawing/2014/main" id="{E6861DA8-30DB-48AE-B570-F97069B994CF}"/>
              </a:ext>
              <a:ext uri="{C183D7F6-B498-43B3-948B-1728B52AA6E4}">
                <adec:decorative xmlns:adec="http://schemas.microsoft.com/office/drawing/2017/decorative" val="1"/>
              </a:ext>
            </a:extLst>
          </p:cNvPr>
          <p:cNvSpPr/>
          <p:nvPr/>
        </p:nvSpPr>
        <p:spPr>
          <a:xfrm>
            <a:off x="37341983" y="22713183"/>
            <a:ext cx="4434743"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3" name="Content Placeholder 42">
            <a:extLst>
              <a:ext uri="{FF2B5EF4-FFF2-40B4-BE49-F238E27FC236}">
                <a16:creationId xmlns:a16="http://schemas.microsoft.com/office/drawing/2014/main" id="{63D3E744-6C56-4C5F-88D6-4844FC847B5A}"/>
              </a:ext>
            </a:extLst>
          </p:cNvPr>
          <p:cNvSpPr>
            <a:spLocks noGrp="1"/>
          </p:cNvSpPr>
          <p:nvPr>
            <p:ph sz="quarter" idx="25" hasCustomPrompt="1"/>
          </p:nvPr>
        </p:nvSpPr>
        <p:spPr>
          <a:xfrm>
            <a:off x="37340800" y="22713183"/>
            <a:ext cx="4435926"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62"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053160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4" pos="19785">
          <p15:clr>
            <a:srgbClr val="FBAE40"/>
          </p15:clr>
        </p15:guide>
        <p15:guide id="15" pos="12074">
          <p15:clr>
            <a:srgbClr val="FBAE40"/>
          </p15:clr>
        </p15:guide>
        <p15:guide id="21" pos="11621">
          <p15:clr>
            <a:srgbClr val="FBAE40"/>
          </p15:clr>
        </p15:guide>
        <p15:guide id="23" pos="202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CL Colour Palet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0962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6" pos="667">
          <p15:clr>
            <a:srgbClr val="FBAE40"/>
          </p15:clr>
        </p15:guide>
        <p15:guide id="7" pos="26294">
          <p15:clr>
            <a:srgbClr val="FBAE40"/>
          </p15:clr>
        </p15:guide>
        <p15:guide id="8" orient="horz" pos="17361">
          <p15:clr>
            <a:srgbClr val="FBAE40"/>
          </p15:clr>
        </p15:guide>
        <p15:guide id="9" orient="horz" pos="36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hyperlink" Target="https://www.ucl.ac.uk/cam/brand"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preview.tinyurl.com/UCL-GDPR"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www.ucl.ac.uk/library/ucl-copyright-advice"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pic>
        <p:nvPicPr>
          <p:cNvPr id="2" name="UCL Banne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376164"/>
            <a:ext cx="42804000" cy="5154120"/>
          </a:xfrm>
          <a:prstGeom prst="rect">
            <a:avLst/>
          </a:prstGeom>
        </p:spPr>
      </p:pic>
      <p:sp>
        <p:nvSpPr>
          <p:cNvPr id="10" name="Rectangle 9"/>
          <p:cNvSpPr/>
          <p:nvPr/>
        </p:nvSpPr>
        <p:spPr>
          <a:xfrm>
            <a:off x="0" y="28289756"/>
            <a:ext cx="42800589" cy="20373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32" dirty="0"/>
          </a:p>
        </p:txBody>
      </p:sp>
      <p:sp>
        <p:nvSpPr>
          <p:cNvPr id="5" name="Rounded Rectangle 4">
            <a:extLst>
              <a:ext uri="{FF2B5EF4-FFF2-40B4-BE49-F238E27FC236}">
                <a16:creationId xmlns:a16="http://schemas.microsoft.com/office/drawing/2014/main" id="{002E5FBB-FB53-4B43-925B-1900D8F85C2B}"/>
              </a:ext>
              <a:ext uri="{C183D7F6-B498-43B3-948B-1728B52AA6E4}">
                <adec:decorative xmlns:adec="http://schemas.microsoft.com/office/drawing/2017/decorative" val="1"/>
              </a:ext>
            </a:extLst>
          </p:cNvPr>
          <p:cNvSpPr/>
          <p:nvPr/>
        </p:nvSpPr>
        <p:spPr>
          <a:xfrm>
            <a:off x="-10971985" y="1"/>
            <a:ext cx="10509339"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1" name="TextBox 10">
            <a:extLst>
              <a:ext uri="{FF2B5EF4-FFF2-40B4-BE49-F238E27FC236}">
                <a16:creationId xmlns:a16="http://schemas.microsoft.com/office/drawing/2014/main" id="{460486A7-30C0-4771-A900-AAFFEAE1146C}"/>
              </a:ext>
            </a:extLst>
          </p:cNvPr>
          <p:cNvSpPr txBox="1"/>
          <p:nvPr/>
        </p:nvSpPr>
        <p:spPr>
          <a:xfrm>
            <a:off x="-7205754" y="889794"/>
            <a:ext cx="3542958" cy="833172"/>
          </a:xfrm>
          <a:prstGeom prst="rect">
            <a:avLst/>
          </a:prstGeom>
          <a:noFill/>
        </p:spPr>
        <p:txBody>
          <a:bodyPr wrap="none" tIns="46797" bIns="46797" rtlCol="0">
            <a:spAutoFit/>
          </a:bodyPr>
          <a:lstStyle/>
          <a:p>
            <a:r>
              <a:rPr lang="en-GB" sz="4800" b="1" dirty="0">
                <a:latin typeface="+mj-lt"/>
              </a:rPr>
              <a:t>Guidelines:</a:t>
            </a:r>
          </a:p>
        </p:txBody>
      </p:sp>
      <p:sp>
        <p:nvSpPr>
          <p:cNvPr id="17" name="TextBox 16">
            <a:extLst>
              <a:ext uri="{FF2B5EF4-FFF2-40B4-BE49-F238E27FC236}">
                <a16:creationId xmlns:a16="http://schemas.microsoft.com/office/drawing/2014/main" id="{AAE1DDCA-E69D-4D9F-9870-6F8562E2A2F8}"/>
              </a:ext>
              <a:ext uri="{C183D7F6-B498-43B3-948B-1728B52AA6E4}">
                <adec:decorative xmlns:adec="http://schemas.microsoft.com/office/drawing/2017/decorative" val="0"/>
              </a:ext>
            </a:extLst>
          </p:cNvPr>
          <p:cNvSpPr txBox="1"/>
          <p:nvPr/>
        </p:nvSpPr>
        <p:spPr>
          <a:xfrm>
            <a:off x="-10666950" y="2215296"/>
            <a:ext cx="9899266" cy="2214669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UCL Banner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 colour and format should not be altered.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Do not place other images or logos on the banner.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Title text should be left aligned unless a poster number is added.</a:t>
            </a:r>
          </a:p>
          <a:p>
            <a:pPr marL="0" indent="0">
              <a:buFontTx/>
              <a:buNone/>
            </a:pPr>
            <a:endParaRPr lang="en-GB" sz="3200" b="0"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Layout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This should be visually appealing and easy to follow. Be consistent.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Choose one slide layout and delete the rest of the slides. Adjust background boxes via the slide master view if required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Ensure that the guides are turned on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Keep within the margin guidelines at the edge to help visibility and avoid the risk of content being trimmed off. </a:t>
            </a:r>
          </a:p>
          <a:p>
            <a:pPr marL="0" indent="0">
              <a:buFontTx/>
              <a:buNone/>
            </a:pPr>
            <a:endParaRPr lang="en-GB" sz="3200" b="1"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Text</a:t>
            </a:r>
            <a:r>
              <a:rPr lang="en-GB" sz="3600" b="1" kern="1200" dirty="0">
                <a:solidFill>
                  <a:schemeClr val="tx1"/>
                </a:solidFill>
                <a:latin typeface="+mn-lt"/>
                <a:ea typeface="+mn-ea"/>
                <a:cs typeface="+mn-cs"/>
              </a:rPr>
              <a:t>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Aim for 300-600 words that are concise and straight to the point.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Avoid font sizes below 24pt except for captions.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a maximum of two fonts (the official UCL fonts are Arial or Helvetica, with Garamond as an additional font in the body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bullet points to break up large areas of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Left justified text is easier to read than fully justified.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Set headings in bold.</a:t>
            </a:r>
          </a:p>
          <a:p>
            <a:pPr>
              <a:buFontTx/>
              <a:buNone/>
            </a:pPr>
            <a:endParaRPr lang="en-GB" sz="3200" b="1"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Graphs, Images and Tables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They must be embedded in your file by inserting the file rather than copying and pasting.</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Make sure they are sufficient size and clearly visible with at least 150dpi.</a:t>
            </a:r>
            <a:endParaRPr lang="en-GB" sz="3200" b="1" dirty="0"/>
          </a:p>
          <a:p>
            <a:pPr>
              <a:buFontTx/>
              <a:buNone/>
            </a:pPr>
            <a:endParaRPr lang="en-GB" sz="3200" b="1" dirty="0"/>
          </a:p>
        </p:txBody>
      </p:sp>
      <p:sp>
        <p:nvSpPr>
          <p:cNvPr id="6" name="Rounded Rectangle 5">
            <a:extLst>
              <a:ext uri="{FF2B5EF4-FFF2-40B4-BE49-F238E27FC236}">
                <a16:creationId xmlns:a16="http://schemas.microsoft.com/office/drawing/2014/main" id="{D18A53B1-78B8-DD4E-A5C3-83962FFEC935}"/>
              </a:ext>
            </a:extLst>
          </p:cNvPr>
          <p:cNvSpPr/>
          <p:nvPr/>
        </p:nvSpPr>
        <p:spPr>
          <a:xfrm>
            <a:off x="43291003" y="1"/>
            <a:ext cx="10511220"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2" dirty="0"/>
          </a:p>
        </p:txBody>
      </p:sp>
      <p:sp>
        <p:nvSpPr>
          <p:cNvPr id="14" name="TextBox 13">
            <a:extLst>
              <a:ext uri="{FF2B5EF4-FFF2-40B4-BE49-F238E27FC236}">
                <a16:creationId xmlns:a16="http://schemas.microsoft.com/office/drawing/2014/main" id="{4AE4917F-44AA-42A0-A37D-362EC920AC03}"/>
              </a:ext>
            </a:extLst>
          </p:cNvPr>
          <p:cNvSpPr txBox="1"/>
          <p:nvPr/>
        </p:nvSpPr>
        <p:spPr>
          <a:xfrm>
            <a:off x="46243108" y="909884"/>
            <a:ext cx="5016117" cy="833172"/>
          </a:xfrm>
          <a:prstGeom prst="rect">
            <a:avLst/>
          </a:prstGeom>
          <a:noFill/>
        </p:spPr>
        <p:txBody>
          <a:bodyPr wrap="none" tIns="46797" bIns="46797" rtlCol="0">
            <a:spAutoFit/>
          </a:bodyPr>
          <a:lstStyle/>
          <a:p>
            <a:r>
              <a:rPr lang="en-GB" sz="4800" b="1" dirty="0">
                <a:latin typeface="+mj-lt"/>
              </a:rPr>
              <a:t>Guidelines </a:t>
            </a:r>
            <a:r>
              <a:rPr lang="en-GB" sz="4800" b="1" dirty="0" err="1">
                <a:latin typeface="+mj-lt"/>
              </a:rPr>
              <a:t>cont</a:t>
            </a:r>
            <a:r>
              <a:rPr lang="en-GB" sz="4800" b="1" dirty="0">
                <a:latin typeface="+mj-lt"/>
              </a:rPr>
              <a:t>:</a:t>
            </a:r>
          </a:p>
        </p:txBody>
      </p:sp>
      <p:sp>
        <p:nvSpPr>
          <p:cNvPr id="20" name="TextBox 19">
            <a:extLst>
              <a:ext uri="{FF2B5EF4-FFF2-40B4-BE49-F238E27FC236}">
                <a16:creationId xmlns:a16="http://schemas.microsoft.com/office/drawing/2014/main" id="{ACE2FCA7-9DB8-47EA-9CD5-CED948F4A325}"/>
              </a:ext>
            </a:extLst>
          </p:cNvPr>
          <p:cNvSpPr txBox="1"/>
          <p:nvPr/>
        </p:nvSpPr>
        <p:spPr>
          <a:xfrm>
            <a:off x="43596980" y="2200896"/>
            <a:ext cx="9899266" cy="7558090"/>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Colour</a:t>
            </a:r>
            <a:endParaRPr lang="en-GB" sz="4000" b="1" kern="1200" dirty="0">
              <a:solidFill>
                <a:schemeClr val="tx1"/>
              </a:solidFill>
              <a:latin typeface="+mj-lt"/>
              <a:ea typeface="+mn-ea"/>
              <a:cs typeface="+mn-cs"/>
            </a:endParaRP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Select background colours that contrast well 	   with the font to allow easier reading of your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Avoid backgrounds with bright or dark colours and full of texture as this will distract readers.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Try not to use too many colours – 1-2 work well, plus images and charts.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 template is formatted with appropriate UCL colours for the banner colour chosen.</a:t>
            </a:r>
          </a:p>
          <a:p>
            <a:pPr marL="457154" marR="0" lvl="0" indent="-457154" algn="l" defTabSz="457154" rtl="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GB" sz="3600" kern="1200" dirty="0">
                <a:solidFill>
                  <a:schemeClr val="tx1"/>
                </a:solidFill>
                <a:latin typeface="+mn-lt"/>
                <a:ea typeface="+mn-ea"/>
                <a:cs typeface="+mn-cs"/>
              </a:rPr>
              <a:t>Don’t use multiple layers of transparency in PowerPoint.</a:t>
            </a:r>
          </a:p>
          <a:p>
            <a:pPr marL="457154" indent="-457154" algn="l" defTabSz="457154" rtl="0" eaLnBrk="1" latinLnBrk="0" hangingPunct="1">
              <a:lnSpc>
                <a:spcPct val="100000"/>
              </a:lnSpc>
              <a:spcAft>
                <a:spcPts val="1800"/>
              </a:spcAft>
              <a:buFont typeface="Arial" panose="020B0604020202020204" pitchFamily="34" charset="0"/>
              <a:buChar char="•"/>
            </a:pPr>
            <a:endParaRPr lang="en-GB" sz="3600" b="1" kern="1200" dirty="0">
              <a:solidFill>
                <a:schemeClr val="tx1"/>
              </a:solidFill>
              <a:latin typeface="+mn-lt"/>
              <a:ea typeface="+mn-ea"/>
              <a:cs typeface="+mn-cs"/>
            </a:endParaRPr>
          </a:p>
        </p:txBody>
      </p:sp>
      <p:sp>
        <p:nvSpPr>
          <p:cNvPr id="15" name="TextBox 14">
            <a:extLst>
              <a:ext uri="{FF2B5EF4-FFF2-40B4-BE49-F238E27FC236}">
                <a16:creationId xmlns:a16="http://schemas.microsoft.com/office/drawing/2014/main" id="{2F795265-BF50-4AB3-8E7B-E09E72992F10}"/>
              </a:ext>
            </a:extLst>
          </p:cNvPr>
          <p:cNvSpPr txBox="1"/>
          <p:nvPr/>
        </p:nvSpPr>
        <p:spPr>
          <a:xfrm>
            <a:off x="43711148" y="9641521"/>
            <a:ext cx="9899266" cy="980485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Copyright  and GDPR</a:t>
            </a:r>
          </a:p>
          <a:p>
            <a:r>
              <a:rPr lang="en-GB" sz="2800" dirty="0"/>
              <a:t>(copy and paste the link  to your browser )</a:t>
            </a:r>
          </a:p>
          <a:p>
            <a:endParaRPr lang="en-GB" sz="3200" dirty="0">
              <a:hlinkClick r:id="" action="ppaction://noaction"/>
            </a:endParaRPr>
          </a:p>
          <a:p>
            <a:r>
              <a:rPr lang="en-GB" sz="3200" dirty="0">
                <a:hlinkClick r:id="" action="ppaction://noaction"/>
              </a:rPr>
              <a:t>https</a:t>
            </a:r>
            <a:r>
              <a:rPr lang="en-GB" sz="3200" dirty="0">
                <a:hlinkClick r:id="rId14"/>
              </a:rPr>
              <a:t>://www.ucl.ac.uk/library/ucl-copyright-advice</a:t>
            </a:r>
            <a:endParaRPr lang="en-GB" sz="3200" dirty="0"/>
          </a:p>
          <a:p>
            <a:endParaRPr lang="en-GB" sz="3200" dirty="0"/>
          </a:p>
          <a:p>
            <a:r>
              <a:rPr lang="en-GB" sz="3200" dirty="0">
                <a:hlinkClick r:id="rId15"/>
              </a:rPr>
              <a:t>https://preview.tinyurl.com/UCL-GDPR</a:t>
            </a:r>
            <a:endParaRPr lang="en-GB" sz="3200" dirty="0"/>
          </a:p>
          <a:p>
            <a:endParaRPr lang="en-GB" sz="3200" dirty="0"/>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Only use copyright free images or those available under the creative commons license unless you have bought the relevant license. You are free to use graphics you have generated but check with colleagues if they have produced them.</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Images downloaded from online are subject to copyright unless this has been waived.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Flickr.com is a useful resource to check the copyright status of images from the web.</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Follow GDPR (General Data Protection Regulation) for images of people.</a:t>
            </a:r>
          </a:p>
        </p:txBody>
      </p:sp>
      <p:sp>
        <p:nvSpPr>
          <p:cNvPr id="4" name="TextBox 3">
            <a:extLst>
              <a:ext uri="{FF2B5EF4-FFF2-40B4-BE49-F238E27FC236}">
                <a16:creationId xmlns:a16="http://schemas.microsoft.com/office/drawing/2014/main" id="{906DADF1-5D4E-4677-9DFB-8C1D0DFD74DB}"/>
              </a:ext>
            </a:extLst>
          </p:cNvPr>
          <p:cNvSpPr txBox="1"/>
          <p:nvPr/>
        </p:nvSpPr>
        <p:spPr>
          <a:xfrm>
            <a:off x="43596980" y="20038106"/>
            <a:ext cx="9899266" cy="3077766"/>
          </a:xfrm>
          <a:prstGeom prst="rect">
            <a:avLst/>
          </a:prstGeom>
          <a:noFill/>
        </p:spPr>
        <p:txBody>
          <a:bodyPr wrap="square" rtlCol="0">
            <a:spAutoFit/>
          </a:bodyPr>
          <a:lstStyle/>
          <a:p>
            <a:pPr algn="l" defTabSz="457154" rtl="0" eaLnBrk="1" latinLnBrk="0" hangingPunct="1">
              <a:lnSpc>
                <a:spcPct val="100000"/>
              </a:lnSpc>
              <a:spcAft>
                <a:spcPts val="1800"/>
              </a:spcAft>
              <a:buFont typeface="Arial" panose="020B0604020202020204" pitchFamily="34" charset="0"/>
            </a:pPr>
            <a:r>
              <a:rPr lang="en-GB" sz="3600" b="1" kern="1200" dirty="0">
                <a:solidFill>
                  <a:schemeClr val="tx1"/>
                </a:solidFill>
                <a:latin typeface="+mj-lt"/>
                <a:ea typeface="+mn-ea"/>
                <a:cs typeface="+mn-cs"/>
              </a:rPr>
              <a:t>UCL Banner vs UCL Logo</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the banner where UCL is the major partner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the UCL logo only where work is an equal collaboration and place all logos at the bottom - </a:t>
            </a:r>
            <a:r>
              <a:rPr lang="en-GB" sz="3200" dirty="0">
                <a:hlinkClick r:id="rId16"/>
              </a:rPr>
              <a:t>https://www.ucl.ac.uk/cam/brand</a:t>
            </a:r>
            <a:endParaRPr lang="en-GB" sz="3200" kern="1200" dirty="0">
              <a:solidFill>
                <a:schemeClr val="tx1"/>
              </a:solidFill>
              <a:latin typeface="+mn-lt"/>
              <a:ea typeface="+mn-ea"/>
              <a:cs typeface="+mn-cs"/>
            </a:endParaRPr>
          </a:p>
        </p:txBody>
      </p:sp>
    </p:spTree>
    <p:extLst>
      <p:ext uri="{BB962C8B-B14F-4D97-AF65-F5344CB8AC3E}">
        <p14:creationId xmlns:p14="http://schemas.microsoft.com/office/powerpoint/2010/main" val="549790678"/>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l" defTabSz="3209320" rtl="0" eaLnBrk="1" latinLnBrk="0" hangingPunct="1">
        <a:lnSpc>
          <a:spcPct val="90000"/>
        </a:lnSpc>
        <a:spcBef>
          <a:spcPct val="0"/>
        </a:spcBef>
        <a:buNone/>
        <a:defRPr sz="15442" kern="1200">
          <a:solidFill>
            <a:schemeClr val="tx1"/>
          </a:solidFill>
          <a:latin typeface="+mj-lt"/>
          <a:ea typeface="+mj-ea"/>
          <a:cs typeface="+mj-cs"/>
        </a:defRPr>
      </a:lvl1pPr>
    </p:titleStyle>
    <p:bodyStyle>
      <a:lvl1pPr marL="802331" indent="-802331" algn="l" defTabSz="3209320" rtl="0" eaLnBrk="1" latinLnBrk="0" hangingPunct="1">
        <a:lnSpc>
          <a:spcPct val="90000"/>
        </a:lnSpc>
        <a:spcBef>
          <a:spcPts val="3510"/>
        </a:spcBef>
        <a:buFont typeface="Arial" panose="020B0604020202020204" pitchFamily="34" charset="0"/>
        <a:buChar char="•"/>
        <a:defRPr sz="9827" kern="1200">
          <a:solidFill>
            <a:schemeClr val="tx1"/>
          </a:solidFill>
          <a:latin typeface="+mn-lt"/>
          <a:ea typeface="+mn-ea"/>
          <a:cs typeface="+mn-cs"/>
        </a:defRPr>
      </a:lvl1pPr>
      <a:lvl2pPr marL="2406990" indent="-802331" algn="l" defTabSz="3209320" rtl="0" eaLnBrk="1" latinLnBrk="0" hangingPunct="1">
        <a:lnSpc>
          <a:spcPct val="90000"/>
        </a:lnSpc>
        <a:spcBef>
          <a:spcPts val="1755"/>
        </a:spcBef>
        <a:buFont typeface="Arial" panose="020B0604020202020204" pitchFamily="34" charset="0"/>
        <a:buChar char="•"/>
        <a:defRPr sz="8423" kern="1200">
          <a:solidFill>
            <a:schemeClr val="tx1"/>
          </a:solidFill>
          <a:latin typeface="+mn-lt"/>
          <a:ea typeface="+mn-ea"/>
          <a:cs typeface="+mn-cs"/>
        </a:defRPr>
      </a:lvl2pPr>
      <a:lvl3pPr marL="4011651" indent="-802331" algn="l" defTabSz="3209320" rtl="0" eaLnBrk="1" latinLnBrk="0" hangingPunct="1">
        <a:lnSpc>
          <a:spcPct val="90000"/>
        </a:lnSpc>
        <a:spcBef>
          <a:spcPts val="1755"/>
        </a:spcBef>
        <a:buFont typeface="Arial" panose="020B0604020202020204" pitchFamily="34" charset="0"/>
        <a:buChar char="•"/>
        <a:defRPr sz="7019" kern="1200">
          <a:solidFill>
            <a:schemeClr val="tx1"/>
          </a:solidFill>
          <a:latin typeface="+mn-lt"/>
          <a:ea typeface="+mn-ea"/>
          <a:cs typeface="+mn-cs"/>
        </a:defRPr>
      </a:lvl3pPr>
      <a:lvl4pPr marL="561631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4pPr>
      <a:lvl5pPr marL="722097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5pPr>
      <a:lvl6pPr marL="882563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6pPr>
      <a:lvl7pPr marL="1043029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7pPr>
      <a:lvl8pPr marL="1203495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8pPr>
      <a:lvl9pPr marL="1363961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9pPr>
    </p:bodyStyle>
    <p:otherStyle>
      <a:defPPr>
        <a:defRPr lang="en-US"/>
      </a:defPPr>
      <a:lvl1pPr marL="0" algn="l" defTabSz="3209320" rtl="0" eaLnBrk="1" latinLnBrk="0" hangingPunct="1">
        <a:defRPr sz="6317" kern="1200">
          <a:solidFill>
            <a:schemeClr val="tx1"/>
          </a:solidFill>
          <a:latin typeface="+mn-lt"/>
          <a:ea typeface="+mn-ea"/>
          <a:cs typeface="+mn-cs"/>
        </a:defRPr>
      </a:lvl1pPr>
      <a:lvl2pPr marL="1604660" algn="l" defTabSz="3209320" rtl="0" eaLnBrk="1" latinLnBrk="0" hangingPunct="1">
        <a:defRPr sz="6317" kern="1200">
          <a:solidFill>
            <a:schemeClr val="tx1"/>
          </a:solidFill>
          <a:latin typeface="+mn-lt"/>
          <a:ea typeface="+mn-ea"/>
          <a:cs typeface="+mn-cs"/>
        </a:defRPr>
      </a:lvl2pPr>
      <a:lvl3pPr marL="3209320" algn="l" defTabSz="3209320" rtl="0" eaLnBrk="1" latinLnBrk="0" hangingPunct="1">
        <a:defRPr sz="6317" kern="1200">
          <a:solidFill>
            <a:schemeClr val="tx1"/>
          </a:solidFill>
          <a:latin typeface="+mn-lt"/>
          <a:ea typeface="+mn-ea"/>
          <a:cs typeface="+mn-cs"/>
        </a:defRPr>
      </a:lvl3pPr>
      <a:lvl4pPr marL="4813981" algn="l" defTabSz="3209320" rtl="0" eaLnBrk="1" latinLnBrk="0" hangingPunct="1">
        <a:defRPr sz="6317" kern="1200">
          <a:solidFill>
            <a:schemeClr val="tx1"/>
          </a:solidFill>
          <a:latin typeface="+mn-lt"/>
          <a:ea typeface="+mn-ea"/>
          <a:cs typeface="+mn-cs"/>
        </a:defRPr>
      </a:lvl4pPr>
      <a:lvl5pPr marL="6418641" algn="l" defTabSz="3209320" rtl="0" eaLnBrk="1" latinLnBrk="0" hangingPunct="1">
        <a:defRPr sz="6317" kern="1200">
          <a:solidFill>
            <a:schemeClr val="tx1"/>
          </a:solidFill>
          <a:latin typeface="+mn-lt"/>
          <a:ea typeface="+mn-ea"/>
          <a:cs typeface="+mn-cs"/>
        </a:defRPr>
      </a:lvl5pPr>
      <a:lvl6pPr marL="8023302" algn="l" defTabSz="3209320" rtl="0" eaLnBrk="1" latinLnBrk="0" hangingPunct="1">
        <a:defRPr sz="6317" kern="1200">
          <a:solidFill>
            <a:schemeClr val="tx1"/>
          </a:solidFill>
          <a:latin typeface="+mn-lt"/>
          <a:ea typeface="+mn-ea"/>
          <a:cs typeface="+mn-cs"/>
        </a:defRPr>
      </a:lvl6pPr>
      <a:lvl7pPr marL="9627962" algn="l" defTabSz="3209320" rtl="0" eaLnBrk="1" latinLnBrk="0" hangingPunct="1">
        <a:defRPr sz="6317" kern="1200">
          <a:solidFill>
            <a:schemeClr val="tx1"/>
          </a:solidFill>
          <a:latin typeface="+mn-lt"/>
          <a:ea typeface="+mn-ea"/>
          <a:cs typeface="+mn-cs"/>
        </a:defRPr>
      </a:lvl7pPr>
      <a:lvl8pPr marL="11232622" algn="l" defTabSz="3209320" rtl="0" eaLnBrk="1" latinLnBrk="0" hangingPunct="1">
        <a:defRPr sz="6317" kern="1200">
          <a:solidFill>
            <a:schemeClr val="tx1"/>
          </a:solidFill>
          <a:latin typeface="+mn-lt"/>
          <a:ea typeface="+mn-ea"/>
          <a:cs typeface="+mn-cs"/>
        </a:defRPr>
      </a:lvl8pPr>
      <a:lvl9pPr marL="12837282" algn="l" defTabSz="3209320" rtl="0" eaLnBrk="1" latinLnBrk="0" hangingPunct="1">
        <a:defRPr sz="6317" kern="1200">
          <a:solidFill>
            <a:schemeClr val="tx1"/>
          </a:solidFill>
          <a:latin typeface="+mn-lt"/>
          <a:ea typeface="+mn-ea"/>
          <a:cs typeface="+mn-cs"/>
        </a:defRPr>
      </a:lvl9pPr>
    </p:otherStyle>
  </p:txStyles>
  <p:extLst>
    <p:ext uri="{27BBF7A9-308A-43DC-89C8-2F10F3537804}">
      <p15:sldGuideLst xmlns:p15="http://schemas.microsoft.com/office/powerpoint/2012/main">
        <p15:guide id="56" pos="644">
          <p15:clr>
            <a:srgbClr val="F26B43"/>
          </p15:clr>
        </p15:guide>
        <p15:guide id="66" pos="26317">
          <p15:clr>
            <a:srgbClr val="F26B43"/>
          </p15:clr>
        </p15:guide>
        <p15:guide id="67" orient="horz" pos="3684">
          <p15:clr>
            <a:srgbClr val="F26B43"/>
          </p15:clr>
        </p15:guide>
        <p15:guide id="82" orient="horz" pos="1738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https://github.com/nicholas-tobias-00/attention_unet_for_oil_spill" TargetMode="External"/><Relationship Id="rId13" Type="http://schemas.openxmlformats.org/officeDocument/2006/relationships/image" Target="../media/image10.png"/><Relationship Id="rId18" Type="http://schemas.openxmlformats.org/officeDocument/2006/relationships/diagramQuickStyle" Target="../diagrams/quickStyle1.xml"/><Relationship Id="rId3" Type="http://schemas.openxmlformats.org/officeDocument/2006/relationships/hyperlink" Target="https://github.com/HarisIqbal88/PlotNeuralNet/tree/master" TargetMode="External"/><Relationship Id="rId7" Type="http://schemas.openxmlformats.org/officeDocument/2006/relationships/image" Target="../media/image5.png"/><Relationship Id="rId12" Type="http://schemas.openxmlformats.org/officeDocument/2006/relationships/image" Target="../media/image9.png"/><Relationship Id="rId17" Type="http://schemas.openxmlformats.org/officeDocument/2006/relationships/diagramLayout" Target="../diagrams/layout1.xml"/><Relationship Id="rId2" Type="http://schemas.openxmlformats.org/officeDocument/2006/relationships/notesSlide" Target="../notesSlides/notesSlide1.xml"/><Relationship Id="rId16" Type="http://schemas.openxmlformats.org/officeDocument/2006/relationships/diagramData" Target="../diagrams/data1.xml"/><Relationship Id="rId20" Type="http://schemas.microsoft.com/office/2007/relationships/diagramDrawing" Target="../diagrams/drawing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diagramColors" Target="../diagrams/colors1.xml"/><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4.png"/><Relationship Id="rId18" Type="http://schemas.openxmlformats.org/officeDocument/2006/relationships/image" Target="../media/image25.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3.png"/><Relationship Id="rId17" Type="http://schemas.openxmlformats.org/officeDocument/2006/relationships/image" Target="../media/image24.png"/><Relationship Id="rId2" Type="http://schemas.openxmlformats.org/officeDocument/2006/relationships/image" Target="../media/image13.png"/><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png"/><Relationship Id="rId15" Type="http://schemas.openxmlformats.org/officeDocument/2006/relationships/image" Target="../media/image8.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7.png"/><Relationship Id="rId1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8.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7202742-FFFC-8FB0-BDEA-B7AC3BEEC2E5}"/>
              </a:ext>
            </a:extLst>
          </p:cNvPr>
          <p:cNvSpPr/>
          <p:nvPr/>
        </p:nvSpPr>
        <p:spPr>
          <a:xfrm>
            <a:off x="1013088" y="6034703"/>
            <a:ext cx="11712312" cy="1382501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lang="en-US" dirty="0"/>
          </a:p>
        </p:txBody>
      </p:sp>
      <p:sp>
        <p:nvSpPr>
          <p:cNvPr id="17" name="Rectangle 16">
            <a:extLst>
              <a:ext uri="{FF2B5EF4-FFF2-40B4-BE49-F238E27FC236}">
                <a16:creationId xmlns:a16="http://schemas.microsoft.com/office/drawing/2014/main" id="{CB21670E-0176-3EEE-6F86-B1A4BAF265DC}"/>
              </a:ext>
            </a:extLst>
          </p:cNvPr>
          <p:cNvSpPr/>
          <p:nvPr/>
        </p:nvSpPr>
        <p:spPr>
          <a:xfrm>
            <a:off x="29642776" y="6034703"/>
            <a:ext cx="12375250" cy="13138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36000" algn="ctr">
              <a:lnSpc>
                <a:spcPct val="150000"/>
              </a:lnSpc>
              <a:spcBef>
                <a:spcPts val="600"/>
              </a:spcBef>
              <a:spcAft>
                <a:spcPts val="600"/>
              </a:spcAft>
            </a:pPr>
            <a:r>
              <a:rPr lang="en-US" sz="2400" dirty="0">
                <a:solidFill>
                  <a:schemeClr val="tx1"/>
                </a:solidFill>
              </a:rPr>
              <a:t>The proposed Attention U-Net architecture is implemented with the following results:</a:t>
            </a:r>
          </a:p>
          <a:p>
            <a:pPr algn="ctr"/>
            <a:endParaRPr lang="en-GB" sz="2400" dirty="0">
              <a:solidFill>
                <a:schemeClr val="tx1"/>
              </a:solidFill>
            </a:endParaRPr>
          </a:p>
        </p:txBody>
      </p:sp>
      <p:sp>
        <p:nvSpPr>
          <p:cNvPr id="29" name="Title 28" descr="Poster title"/>
          <p:cNvSpPr>
            <a:spLocks noGrp="1"/>
          </p:cNvSpPr>
          <p:nvPr>
            <p:ph type="title"/>
          </p:nvPr>
        </p:nvSpPr>
        <p:spPr/>
        <p:txBody>
          <a:bodyPr/>
          <a:lstStyle/>
          <a:p>
            <a:r>
              <a:rPr lang="en-US" dirty="0"/>
              <a:t>Mind The Slick: Adaptation of Attention U-Net for Satellite-Based Ocean Oil Spill Detection</a:t>
            </a:r>
            <a:endParaRPr lang="en-GB" dirty="0"/>
          </a:p>
        </p:txBody>
      </p:sp>
      <p:sp>
        <p:nvSpPr>
          <p:cNvPr id="30" name="Text Placeholder 29" descr="Authors"/>
          <p:cNvSpPr>
            <a:spLocks noGrp="1"/>
          </p:cNvSpPr>
          <p:nvPr>
            <p:ph type="body" sz="quarter" idx="10"/>
          </p:nvPr>
        </p:nvSpPr>
        <p:spPr>
          <a:xfrm>
            <a:off x="1058786" y="2716524"/>
            <a:ext cx="9609214" cy="714374"/>
          </a:xfrm>
        </p:spPr>
        <p:txBody>
          <a:bodyPr/>
          <a:lstStyle/>
          <a:p>
            <a:r>
              <a:rPr lang="en-US" dirty="0"/>
              <a:t>Nicholas Tobias</a:t>
            </a:r>
            <a:endParaRPr lang="en-GB" dirty="0"/>
          </a:p>
        </p:txBody>
      </p:sp>
      <p:sp>
        <p:nvSpPr>
          <p:cNvPr id="31" name="Text Placeholder 30" descr="Department or institution"/>
          <p:cNvSpPr>
            <a:spLocks noGrp="1"/>
          </p:cNvSpPr>
          <p:nvPr>
            <p:ph type="body" sz="quarter" idx="11"/>
          </p:nvPr>
        </p:nvSpPr>
        <p:spPr>
          <a:xfrm>
            <a:off x="1058785" y="3556217"/>
            <a:ext cx="35504166" cy="480131"/>
          </a:xfrm>
        </p:spPr>
        <p:txBody>
          <a:bodyPr/>
          <a:lstStyle/>
          <a:p>
            <a:r>
              <a:rPr lang="en-US" dirty="0"/>
              <a:t>MSc Artificial Intelligence for Sustainable Development, UCL Computer Science</a:t>
            </a:r>
            <a:endParaRPr lang="en-GB" dirty="0"/>
          </a:p>
        </p:txBody>
      </p:sp>
      <p:sp>
        <p:nvSpPr>
          <p:cNvPr id="38" name="Content Placeholder 37" descr="Column 2, box 2"/>
          <p:cNvSpPr>
            <a:spLocks noGrp="1"/>
          </p:cNvSpPr>
          <p:nvPr>
            <p:ph type="body" sz="quarter" idx="13"/>
          </p:nvPr>
        </p:nvSpPr>
        <p:spPr>
          <a:xfrm>
            <a:off x="1058784" y="28306520"/>
            <a:ext cx="30526116" cy="1831179"/>
          </a:xfrm>
          <a:prstGeom prst="rect">
            <a:avLst/>
          </a:prstGeom>
        </p:spPr>
        <p:txBody>
          <a:bodyPr>
            <a:normAutofit fontScale="92500" lnSpcReduction="20000"/>
          </a:bodyPr>
          <a:lstStyle/>
          <a:p>
            <a:pPr>
              <a:lnSpc>
                <a:spcPct val="150000"/>
              </a:lnSpc>
              <a:spcBef>
                <a:spcPts val="0"/>
              </a:spcBef>
            </a:pPr>
            <a:r>
              <a:rPr lang="en-US" sz="2400" dirty="0"/>
              <a:t>References: </a:t>
            </a:r>
          </a:p>
          <a:p>
            <a:pPr>
              <a:lnSpc>
                <a:spcPct val="150000"/>
              </a:lnSpc>
              <a:spcBef>
                <a:spcPts val="0"/>
              </a:spcBef>
            </a:pPr>
            <a:r>
              <a:rPr lang="en-GB" sz="2400" dirty="0"/>
              <a:t>[1]. </a:t>
            </a:r>
            <a:r>
              <a:rPr lang="en-US" sz="2400" dirty="0"/>
              <a:t>John, D. &amp; Zhang, C. (2022) ‘An attention-based U-Net for detecting deforestation within satellite sensor imagery’, </a:t>
            </a:r>
            <a:r>
              <a:rPr lang="en-US" sz="2400" i="1" dirty="0"/>
              <a:t>International Journal of Applied Earth Observations and Geoinformation</a:t>
            </a:r>
            <a:r>
              <a:rPr lang="en-US" sz="2400" dirty="0"/>
              <a:t>, 107, p. 102685.</a:t>
            </a:r>
            <a:endParaRPr lang="en-GB" sz="2400" dirty="0"/>
          </a:p>
          <a:p>
            <a:pPr>
              <a:lnSpc>
                <a:spcPct val="150000"/>
              </a:lnSpc>
              <a:spcBef>
                <a:spcPts val="0"/>
              </a:spcBef>
            </a:pPr>
            <a:r>
              <a:rPr lang="en-GB" sz="2400" dirty="0"/>
              <a:t>[2]. Trujillo-</a:t>
            </a:r>
            <a:r>
              <a:rPr lang="en-GB" sz="2400" dirty="0" err="1"/>
              <a:t>Acatitla</a:t>
            </a:r>
            <a:r>
              <a:rPr lang="en-GB" sz="2400" dirty="0"/>
              <a:t>, R., Tuxpan-Vargas, J., Ovando-Vázquez, C. &amp; Monterrubio-Martínez, E. (2024) ‘Marine oil spill detection and segmentation in SAR data with two steps Deep Learning framework’, </a:t>
            </a:r>
            <a:r>
              <a:rPr lang="en-GB" sz="2400" i="1" dirty="0"/>
              <a:t>Marine Pollution Bulletin</a:t>
            </a:r>
            <a:r>
              <a:rPr lang="en-GB" sz="2400" dirty="0"/>
              <a:t>, 204, p. 116549.</a:t>
            </a:r>
          </a:p>
          <a:p>
            <a:pPr>
              <a:lnSpc>
                <a:spcPct val="150000"/>
              </a:lnSpc>
              <a:spcBef>
                <a:spcPts val="0"/>
              </a:spcBef>
            </a:pPr>
            <a:r>
              <a:rPr lang="en-GB" sz="2400" dirty="0"/>
              <a:t>[3]. HarisIqbal88. (n.d.). </a:t>
            </a:r>
            <a:r>
              <a:rPr lang="en-GB" sz="2400" i="1" dirty="0" err="1"/>
              <a:t>PlotNeuralNet</a:t>
            </a:r>
            <a:r>
              <a:rPr lang="en-GB" sz="2400" dirty="0"/>
              <a:t> [Computer software]. GitHub. </a:t>
            </a:r>
            <a:r>
              <a:rPr lang="en-GB" sz="2400" dirty="0">
                <a:hlinkClick r:id="rId3"/>
              </a:rPr>
              <a:t>https://github.com/HarisIqbal88/PlotNeuralNet/tree/master</a:t>
            </a:r>
            <a:endParaRPr lang="en-US" sz="2400" dirty="0"/>
          </a:p>
        </p:txBody>
      </p:sp>
      <p:sp>
        <p:nvSpPr>
          <p:cNvPr id="8" name="Rectangle 7">
            <a:extLst>
              <a:ext uri="{FF2B5EF4-FFF2-40B4-BE49-F238E27FC236}">
                <a16:creationId xmlns:a16="http://schemas.microsoft.com/office/drawing/2014/main" id="{9001AE97-5CAD-524A-6AA7-50AE3FDBC7D3}"/>
              </a:ext>
            </a:extLst>
          </p:cNvPr>
          <p:cNvSpPr/>
          <p:nvPr/>
        </p:nvSpPr>
        <p:spPr>
          <a:xfrm>
            <a:off x="29631390" y="5281054"/>
            <a:ext cx="12386635" cy="75713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Model Performance and Evaluation</a:t>
            </a:r>
            <a:endParaRPr lang="en-GB" sz="4000" b="1" dirty="0">
              <a:solidFill>
                <a:schemeClr val="bg1"/>
              </a:solidFill>
            </a:endParaRPr>
          </a:p>
        </p:txBody>
      </p:sp>
      <p:sp>
        <p:nvSpPr>
          <p:cNvPr id="3" name="Rectangle 2">
            <a:extLst>
              <a:ext uri="{FF2B5EF4-FFF2-40B4-BE49-F238E27FC236}">
                <a16:creationId xmlns:a16="http://schemas.microsoft.com/office/drawing/2014/main" id="{93DBB663-014F-3B7B-ED84-0C68EDCD394A}"/>
              </a:ext>
            </a:extLst>
          </p:cNvPr>
          <p:cNvSpPr/>
          <p:nvPr/>
        </p:nvSpPr>
        <p:spPr>
          <a:xfrm>
            <a:off x="1012092" y="5281054"/>
            <a:ext cx="11714304" cy="75713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a:t>Original Paper</a:t>
            </a:r>
            <a:endParaRPr lang="en-GB" sz="4000" b="1" dirty="0"/>
          </a:p>
        </p:txBody>
      </p:sp>
      <p:sp>
        <p:nvSpPr>
          <p:cNvPr id="13" name="Rectangle 12">
            <a:extLst>
              <a:ext uri="{FF2B5EF4-FFF2-40B4-BE49-F238E27FC236}">
                <a16:creationId xmlns:a16="http://schemas.microsoft.com/office/drawing/2014/main" id="{35E9AF91-98E2-C586-7786-F33E0AED51DD}"/>
              </a:ext>
            </a:extLst>
          </p:cNvPr>
          <p:cNvSpPr/>
          <p:nvPr/>
        </p:nvSpPr>
        <p:spPr>
          <a:xfrm>
            <a:off x="1054605" y="20911676"/>
            <a:ext cx="11712312" cy="67017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D10DF031-B19B-ACFE-9B4D-2ECDD41F147B}"/>
              </a:ext>
            </a:extLst>
          </p:cNvPr>
          <p:cNvSpPr/>
          <p:nvPr/>
        </p:nvSpPr>
        <p:spPr>
          <a:xfrm>
            <a:off x="1013086" y="20185580"/>
            <a:ext cx="11712311" cy="75713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New Context</a:t>
            </a:r>
            <a:endParaRPr lang="en-GB" sz="4000" b="1" dirty="0"/>
          </a:p>
        </p:txBody>
      </p:sp>
      <p:sp>
        <p:nvSpPr>
          <p:cNvPr id="19" name="Rectangle 18">
            <a:extLst>
              <a:ext uri="{FF2B5EF4-FFF2-40B4-BE49-F238E27FC236}">
                <a16:creationId xmlns:a16="http://schemas.microsoft.com/office/drawing/2014/main" id="{92B34172-F8A6-E81B-A4FE-726DC74B002D}"/>
              </a:ext>
            </a:extLst>
          </p:cNvPr>
          <p:cNvSpPr/>
          <p:nvPr/>
        </p:nvSpPr>
        <p:spPr>
          <a:xfrm>
            <a:off x="29653551" y="20185581"/>
            <a:ext cx="12364474" cy="74588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19">
            <a:extLst>
              <a:ext uri="{FF2B5EF4-FFF2-40B4-BE49-F238E27FC236}">
                <a16:creationId xmlns:a16="http://schemas.microsoft.com/office/drawing/2014/main" id="{FDEBA996-DD35-C963-1379-02A77309A03B}"/>
              </a:ext>
            </a:extLst>
          </p:cNvPr>
          <p:cNvSpPr/>
          <p:nvPr/>
        </p:nvSpPr>
        <p:spPr>
          <a:xfrm>
            <a:off x="29631400" y="19412996"/>
            <a:ext cx="12375849" cy="77258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Reflection on Sustainable Development Goals</a:t>
            </a:r>
            <a:endParaRPr lang="en-GB" sz="4000" b="1" dirty="0">
              <a:solidFill>
                <a:schemeClr val="bg1"/>
              </a:solidFill>
            </a:endParaRPr>
          </a:p>
        </p:txBody>
      </p:sp>
      <p:grpSp>
        <p:nvGrpSpPr>
          <p:cNvPr id="113" name="Group 112">
            <a:extLst>
              <a:ext uri="{FF2B5EF4-FFF2-40B4-BE49-F238E27FC236}">
                <a16:creationId xmlns:a16="http://schemas.microsoft.com/office/drawing/2014/main" id="{74E32024-410C-BEF9-F652-66A2F1F9F767}"/>
              </a:ext>
            </a:extLst>
          </p:cNvPr>
          <p:cNvGrpSpPr/>
          <p:nvPr/>
        </p:nvGrpSpPr>
        <p:grpSpPr>
          <a:xfrm>
            <a:off x="13193883" y="5281053"/>
            <a:ext cx="15980402" cy="18493347"/>
            <a:chOff x="13251369" y="5281054"/>
            <a:chExt cx="15980402" cy="16677827"/>
          </a:xfrm>
        </p:grpSpPr>
        <p:sp>
          <p:nvSpPr>
            <p:cNvPr id="27" name="Rectangle 26">
              <a:extLst>
                <a:ext uri="{FF2B5EF4-FFF2-40B4-BE49-F238E27FC236}">
                  <a16:creationId xmlns:a16="http://schemas.microsoft.com/office/drawing/2014/main" id="{67745835-56B1-6B0B-2828-EC91AB8EEE5C}"/>
                </a:ext>
              </a:extLst>
            </p:cNvPr>
            <p:cNvSpPr/>
            <p:nvPr/>
          </p:nvSpPr>
          <p:spPr>
            <a:xfrm>
              <a:off x="13251369" y="5960716"/>
              <a:ext cx="15980402" cy="15998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144000" tIns="180000" rIns="144000" rtlCol="0" anchor="t" anchorCtr="0"/>
            <a:lstStyle/>
            <a:p>
              <a:pPr algn="just"/>
              <a:r>
                <a:rPr lang="en-US" sz="2600" dirty="0">
                  <a:solidFill>
                    <a:schemeClr val="tx1"/>
                  </a:solidFill>
                </a:rPr>
                <a:t>This project utilizes the same principle of John D. and Zhang C. (2022)’s deforestation paper with two significant modifications:</a:t>
              </a:r>
            </a:p>
            <a:p>
              <a:pPr algn="just">
                <a:spcBef>
                  <a:spcPts val="600"/>
                </a:spcBef>
                <a:spcAft>
                  <a:spcPts val="600"/>
                </a:spcAft>
              </a:pPr>
              <a:r>
                <a:rPr lang="en-US" sz="2800" dirty="0">
                  <a:solidFill>
                    <a:schemeClr val="tx1"/>
                  </a:solidFill>
                </a:rPr>
                <a:t>I. </a:t>
              </a:r>
              <a:r>
                <a:rPr lang="en-US" sz="2800" b="1" dirty="0">
                  <a:solidFill>
                    <a:schemeClr val="tx1"/>
                  </a:solidFill>
                </a:rPr>
                <a:t>Dataset modifications </a:t>
              </a:r>
              <a:endParaRPr lang="en-US" sz="2400" dirty="0">
                <a:solidFill>
                  <a:schemeClr val="tx1"/>
                </a:solidFill>
              </a:endParaRPr>
            </a:p>
            <a:p>
              <a:pPr marL="723900" indent="-457200" algn="just">
                <a:spcAft>
                  <a:spcPts val="600"/>
                </a:spcAft>
                <a:buFont typeface="Arial" panose="020B0604020202020204" pitchFamily="34" charset="0"/>
                <a:buChar char="•"/>
              </a:pPr>
              <a:r>
                <a:rPr lang="en-US" sz="2400" dirty="0">
                  <a:solidFill>
                    <a:schemeClr val="tx1"/>
                  </a:solidFill>
                </a:rPr>
                <a:t>The original dataset used for deforestation mapping is replaced with Sentinel-1 GRD ocean imagery, requiring adjustments in preprocessing steps</a:t>
              </a:r>
            </a:p>
            <a:p>
              <a:pPr marL="723900" indent="-457200" algn="just">
                <a:spcAft>
                  <a:spcPts val="600"/>
                </a:spcAft>
                <a:buFont typeface="Arial" panose="020B0604020202020204" pitchFamily="34" charset="0"/>
                <a:buChar char="•"/>
              </a:pPr>
              <a:r>
                <a:rPr lang="en-US" sz="2400" dirty="0">
                  <a:solidFill>
                    <a:schemeClr val="tx1"/>
                  </a:solidFill>
                </a:rPr>
                <a:t>The project uses </a:t>
              </a:r>
              <a:r>
                <a:rPr lang="en-US" sz="2400" u="sng" dirty="0">
                  <a:solidFill>
                    <a:schemeClr val="tx1"/>
                  </a:solidFill>
                </a:rPr>
                <a:t>a labeled oil spill dataset from previous work by </a:t>
              </a:r>
              <a:r>
                <a:rPr lang="en-GB" sz="2400" u="sng" dirty="0">
                  <a:solidFill>
                    <a:schemeClr val="tx1"/>
                  </a:solidFill>
                </a:rPr>
                <a:t>Trujillo-</a:t>
              </a:r>
              <a:r>
                <a:rPr lang="en-GB" sz="2400" u="sng" dirty="0" err="1">
                  <a:solidFill>
                    <a:schemeClr val="tx1"/>
                  </a:solidFill>
                </a:rPr>
                <a:t>Acatitla</a:t>
              </a:r>
              <a:r>
                <a:rPr lang="en-GB" sz="2400" u="sng" dirty="0">
                  <a:solidFill>
                    <a:schemeClr val="tx1"/>
                  </a:solidFill>
                </a:rPr>
                <a:t> et al. (2024) [2]</a:t>
              </a:r>
              <a:r>
                <a:rPr lang="en-GB" sz="2400" dirty="0">
                  <a:solidFill>
                    <a:schemeClr val="tx1"/>
                  </a:solidFill>
                </a:rPr>
                <a:t>. In detail, the following data has been provided:</a:t>
              </a:r>
            </a:p>
            <a:p>
              <a:pPr marL="1181100" lvl="1" indent="-457200" algn="just">
                <a:spcAft>
                  <a:spcPts val="600"/>
                </a:spcAft>
                <a:buFont typeface="Arial" panose="020B0604020202020204" pitchFamily="34" charset="0"/>
                <a:buChar char="•"/>
              </a:pPr>
              <a:r>
                <a:rPr lang="en-GB" sz="2400" dirty="0">
                  <a:solidFill>
                    <a:schemeClr val="tx1"/>
                  </a:solidFill>
                </a:rPr>
                <a:t>3,020 labelled oil spill data with </a:t>
              </a:r>
            </a:p>
            <a:p>
              <a:pPr marL="1181100" lvl="1" indent="-457200" algn="just">
                <a:spcAft>
                  <a:spcPts val="600"/>
                </a:spcAft>
                <a:buFont typeface="Arial" panose="020B0604020202020204" pitchFamily="34" charset="0"/>
                <a:buChar char="•"/>
              </a:pPr>
              <a:r>
                <a:rPr lang="en-GB" sz="2400" dirty="0">
                  <a:solidFill>
                    <a:schemeClr val="tx1"/>
                  </a:solidFill>
                </a:rPr>
                <a:t>Out of 3,020 labelled data:</a:t>
              </a:r>
            </a:p>
            <a:p>
              <a:pPr marL="1638300" lvl="2" indent="-457200" algn="just">
                <a:spcAft>
                  <a:spcPts val="600"/>
                </a:spcAft>
                <a:buFont typeface="Arial" panose="020B0604020202020204" pitchFamily="34" charset="0"/>
                <a:buChar char="•"/>
              </a:pPr>
              <a:r>
                <a:rPr lang="en-GB" sz="2400" dirty="0">
                  <a:solidFill>
                    <a:schemeClr val="tx1"/>
                  </a:solidFill>
                </a:rPr>
                <a:t>1,350 oil images</a:t>
              </a:r>
            </a:p>
            <a:p>
              <a:pPr marL="1638300" lvl="2" indent="-457200" algn="just">
                <a:spcAft>
                  <a:spcPts val="600"/>
                </a:spcAft>
                <a:buFont typeface="Arial" panose="020B0604020202020204" pitchFamily="34" charset="0"/>
                <a:buChar char="•"/>
              </a:pPr>
              <a:r>
                <a:rPr lang="en-GB" sz="2400" dirty="0">
                  <a:solidFill>
                    <a:schemeClr val="tx1"/>
                  </a:solidFill>
                </a:rPr>
                <a:t>1,520 not oil images, with 835 being a lookalike</a:t>
              </a:r>
              <a:endParaRPr lang="en-US" sz="2400" dirty="0">
                <a:solidFill>
                  <a:schemeClr val="tx1"/>
                </a:solidFill>
              </a:endParaRPr>
            </a:p>
            <a:p>
              <a:pPr marL="723900" indent="-457200" algn="just">
                <a:spcAft>
                  <a:spcPts val="600"/>
                </a:spcAft>
                <a:buFont typeface="Arial" panose="020B0604020202020204" pitchFamily="34" charset="0"/>
                <a:buChar char="•"/>
              </a:pPr>
              <a:r>
                <a:rPr lang="en-US" sz="2400" dirty="0">
                  <a:solidFill>
                    <a:schemeClr val="tx1"/>
                  </a:solidFill>
                </a:rPr>
                <a:t>Additional data can be processed by downloading high resolution Sentinel-1 GRD images in dual polarization (IW mode, VV, VH) images from </a:t>
              </a:r>
              <a:r>
                <a:rPr lang="en-US" sz="2400" b="1" dirty="0">
                  <a:solidFill>
                    <a:schemeClr val="tx1"/>
                  </a:solidFill>
                </a:rPr>
                <a:t>ASF DAAC / Copernicus Open Access Hub </a:t>
              </a:r>
              <a:r>
                <a:rPr lang="en-US" sz="2400" dirty="0">
                  <a:solidFill>
                    <a:schemeClr val="tx1"/>
                  </a:solidFill>
                </a:rPr>
                <a:t>and then performing the following </a:t>
              </a:r>
              <a:r>
                <a:rPr lang="en-US" sz="2400" b="1" dirty="0">
                  <a:solidFill>
                    <a:schemeClr val="tx1"/>
                  </a:solidFill>
                </a:rPr>
                <a:t>processing with SNAP (SeNtinel Applications Platform)</a:t>
              </a:r>
              <a:r>
                <a:rPr lang="en-US" sz="2400" dirty="0">
                  <a:solidFill>
                    <a:schemeClr val="tx1"/>
                  </a:solidFill>
                </a:rPr>
                <a:t>:</a:t>
              </a:r>
            </a:p>
            <a:p>
              <a:pPr algn="r">
                <a:spcAft>
                  <a:spcPts val="600"/>
                </a:spcAft>
              </a:pPr>
              <a:endParaRPr lang="en-US" sz="2600" dirty="0">
                <a:solidFill>
                  <a:schemeClr val="tx1"/>
                </a:solidFill>
              </a:endParaRPr>
            </a:p>
            <a:p>
              <a:pPr algn="r">
                <a:spcAft>
                  <a:spcPts val="600"/>
                </a:spcAft>
              </a:pPr>
              <a:endParaRPr lang="en-US" sz="2600" dirty="0">
                <a:solidFill>
                  <a:schemeClr val="tx1"/>
                </a:solidFill>
              </a:endParaRPr>
            </a:p>
            <a:p>
              <a:pPr algn="r">
                <a:spcAft>
                  <a:spcPts val="600"/>
                </a:spcAft>
              </a:pPr>
              <a:endParaRPr lang="en-US" sz="2600" dirty="0">
                <a:solidFill>
                  <a:schemeClr val="tx1"/>
                </a:solidFill>
              </a:endParaRPr>
            </a:p>
            <a:p>
              <a:pPr algn="just">
                <a:spcAft>
                  <a:spcPts val="600"/>
                </a:spcAft>
              </a:pPr>
              <a:endParaRPr lang="en-US" sz="2800" dirty="0">
                <a:solidFill>
                  <a:schemeClr val="tx1"/>
                </a:solidFill>
              </a:endParaRPr>
            </a:p>
            <a:p>
              <a:pPr algn="just">
                <a:spcAft>
                  <a:spcPts val="600"/>
                </a:spcAft>
              </a:pPr>
              <a:r>
                <a:rPr lang="en-US" sz="2800" dirty="0">
                  <a:solidFill>
                    <a:schemeClr val="tx1"/>
                  </a:solidFill>
                </a:rPr>
                <a:t>II. </a:t>
              </a:r>
              <a:r>
                <a:rPr lang="en-US" sz="2800" b="1" dirty="0">
                  <a:solidFill>
                    <a:schemeClr val="tx1"/>
                  </a:solidFill>
                </a:rPr>
                <a:t>Model Modifications</a:t>
              </a:r>
            </a:p>
            <a:p>
              <a:pPr marL="457200" indent="-457200" algn="just">
                <a:spcAft>
                  <a:spcPts val="600"/>
                </a:spcAft>
                <a:buFont typeface="Arial" panose="020B0604020202020204" pitchFamily="34" charset="0"/>
                <a:buChar char="•"/>
              </a:pPr>
              <a:r>
                <a:rPr lang="en-US" sz="2600" dirty="0">
                  <a:solidFill>
                    <a:schemeClr val="tx1"/>
                  </a:solidFill>
                </a:rPr>
                <a:t>Dataset balancing through training with </a:t>
              </a:r>
              <a:r>
                <a:rPr lang="en-US" sz="2600" u="sng" dirty="0">
                  <a:solidFill>
                    <a:schemeClr val="tx1"/>
                  </a:solidFill>
                </a:rPr>
                <a:t>weighted binary cross entropy loss function has been applied</a:t>
              </a:r>
              <a:r>
                <a:rPr lang="en-US" sz="2600" dirty="0">
                  <a:solidFill>
                    <a:schemeClr val="tx1"/>
                  </a:solidFill>
                </a:rPr>
                <a:t>. This counters the small proportion of oil spills compared to the background.</a:t>
              </a:r>
            </a:p>
            <a:p>
              <a:pPr marL="914400" lvl="1" indent="-457200" algn="just">
                <a:spcAft>
                  <a:spcPts val="600"/>
                </a:spcAft>
                <a:buFont typeface="Wingdings" panose="05000000000000000000" pitchFamily="2" charset="2"/>
                <a:buChar char="à"/>
              </a:pPr>
              <a:r>
                <a:rPr lang="en-US" sz="2600" dirty="0">
                  <a:solidFill>
                    <a:schemeClr val="tx1"/>
                  </a:solidFill>
                  <a:sym typeface="Wingdings" panose="05000000000000000000" pitchFamily="2" charset="2"/>
                </a:rPr>
                <a:t>This ensures the overall training process to focus more on detected oil spills and preventing a lazy network from predicting “all ocean”.</a:t>
              </a:r>
            </a:p>
            <a:p>
              <a:pPr marL="914400" lvl="1" indent="-457200" algn="just">
                <a:spcAft>
                  <a:spcPts val="600"/>
                </a:spcAft>
                <a:buFont typeface="Wingdings" panose="05000000000000000000" pitchFamily="2" charset="2"/>
                <a:buChar char="à"/>
              </a:pPr>
              <a:r>
                <a:rPr lang="en-US" sz="2600" dirty="0">
                  <a:solidFill>
                    <a:schemeClr val="tx1"/>
                  </a:solidFill>
                  <a:sym typeface="Wingdings" panose="05000000000000000000" pitchFamily="2" charset="2"/>
                </a:rPr>
                <a:t>Ablation study has been conducted in which </a:t>
              </a:r>
              <a:r>
                <a:rPr lang="en-US" sz="2600" u="sng" dirty="0">
                  <a:solidFill>
                    <a:schemeClr val="tx1"/>
                  </a:solidFill>
                  <a:sym typeface="Wingdings" panose="05000000000000000000" pitchFamily="2" charset="2"/>
                </a:rPr>
                <a:t>weighted BCE shows significant improvement</a:t>
              </a:r>
              <a:r>
                <a:rPr lang="en-US" sz="2600" dirty="0">
                  <a:solidFill>
                    <a:schemeClr val="tx1"/>
                  </a:solidFill>
                  <a:sym typeface="Wingdings" panose="05000000000000000000" pitchFamily="2" charset="2"/>
                </a:rPr>
                <a:t> over unweighted.</a:t>
              </a:r>
            </a:p>
            <a:p>
              <a:pPr marL="914400" lvl="1" indent="-457200" algn="just">
                <a:spcAft>
                  <a:spcPts val="600"/>
                </a:spcAft>
                <a:buFont typeface="Wingdings" panose="05000000000000000000" pitchFamily="2" charset="2"/>
                <a:buChar char="à"/>
              </a:pPr>
              <a:endParaRPr lang="en-GB" sz="2600" dirty="0">
                <a:solidFill>
                  <a:schemeClr val="tx1"/>
                </a:solidFill>
              </a:endParaRPr>
            </a:p>
            <a:p>
              <a:pPr algn="just"/>
              <a:endParaRPr lang="en-GB" sz="2600" dirty="0">
                <a:solidFill>
                  <a:schemeClr val="tx1"/>
                </a:solidFill>
              </a:endParaRPr>
            </a:p>
          </p:txBody>
        </p:sp>
        <p:sp>
          <p:nvSpPr>
            <p:cNvPr id="42" name="Rectangle 41">
              <a:extLst>
                <a:ext uri="{FF2B5EF4-FFF2-40B4-BE49-F238E27FC236}">
                  <a16:creationId xmlns:a16="http://schemas.microsoft.com/office/drawing/2014/main" id="{90910880-7712-5955-9DCA-EB8275CCB8CF}"/>
                </a:ext>
              </a:extLst>
            </p:cNvPr>
            <p:cNvSpPr/>
            <p:nvPr/>
          </p:nvSpPr>
          <p:spPr>
            <a:xfrm>
              <a:off x="13259685" y="5281054"/>
              <a:ext cx="15972085" cy="67966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Datasets, Adaptation, and Model Architecture</a:t>
              </a:r>
              <a:endParaRPr lang="en-GB" sz="4000" b="1" dirty="0">
                <a:solidFill>
                  <a:schemeClr val="bg1"/>
                </a:solidFill>
              </a:endParaRPr>
            </a:p>
          </p:txBody>
        </p:sp>
      </p:grpSp>
      <p:grpSp>
        <p:nvGrpSpPr>
          <p:cNvPr id="116" name="Group 115">
            <a:extLst>
              <a:ext uri="{FF2B5EF4-FFF2-40B4-BE49-F238E27FC236}">
                <a16:creationId xmlns:a16="http://schemas.microsoft.com/office/drawing/2014/main" id="{220E9A56-8E4C-D845-F4A8-16CC52DDB0CC}"/>
              </a:ext>
            </a:extLst>
          </p:cNvPr>
          <p:cNvGrpSpPr/>
          <p:nvPr/>
        </p:nvGrpSpPr>
        <p:grpSpPr>
          <a:xfrm>
            <a:off x="6944556" y="9749514"/>
            <a:ext cx="5615743" cy="9636488"/>
            <a:chOff x="1101975" y="9943038"/>
            <a:chExt cx="5980996" cy="9636488"/>
          </a:xfrm>
        </p:grpSpPr>
        <p:sp>
          <p:nvSpPr>
            <p:cNvPr id="60" name="Rectangle 59">
              <a:extLst>
                <a:ext uri="{FF2B5EF4-FFF2-40B4-BE49-F238E27FC236}">
                  <a16:creationId xmlns:a16="http://schemas.microsoft.com/office/drawing/2014/main" id="{AC4E3D80-FF12-AE26-5BC8-0CFD9EE2DCB2}"/>
                </a:ext>
              </a:extLst>
            </p:cNvPr>
            <p:cNvSpPr/>
            <p:nvPr/>
          </p:nvSpPr>
          <p:spPr>
            <a:xfrm>
              <a:off x="1101975" y="9943040"/>
              <a:ext cx="5980996" cy="963648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1" name="Picture 40" descr="A collage of different colors of clouds&#10;&#10;AI-generated content may be incorrect.">
              <a:extLst>
                <a:ext uri="{FF2B5EF4-FFF2-40B4-BE49-F238E27FC236}">
                  <a16:creationId xmlns:a16="http://schemas.microsoft.com/office/drawing/2014/main" id="{1B0C87FD-2C53-0D36-DB94-DA25609CCCC8}"/>
                </a:ext>
              </a:extLst>
            </p:cNvPr>
            <p:cNvPicPr>
              <a:picLocks noChangeAspect="1"/>
            </p:cNvPicPr>
            <p:nvPr/>
          </p:nvPicPr>
          <p:blipFill>
            <a:blip r:embed="rId4"/>
            <a:srcRect t="4407" r="50902"/>
            <a:stretch>
              <a:fillRect/>
            </a:stretch>
          </p:blipFill>
          <p:spPr>
            <a:xfrm>
              <a:off x="1240755" y="11657454"/>
              <a:ext cx="5740615" cy="7833720"/>
            </a:xfrm>
            <a:prstGeom prst="rect">
              <a:avLst/>
            </a:prstGeom>
            <a:ln>
              <a:solidFill>
                <a:schemeClr val="tx1"/>
              </a:solidFill>
            </a:ln>
          </p:spPr>
        </p:pic>
        <p:sp>
          <p:nvSpPr>
            <p:cNvPr id="46" name="TextBox 45">
              <a:extLst>
                <a:ext uri="{FF2B5EF4-FFF2-40B4-BE49-F238E27FC236}">
                  <a16:creationId xmlns:a16="http://schemas.microsoft.com/office/drawing/2014/main" id="{8FEB9DF3-A62F-9D1E-44B9-416359A45C78}"/>
                </a:ext>
              </a:extLst>
            </p:cNvPr>
            <p:cNvSpPr txBox="1"/>
            <p:nvPr/>
          </p:nvSpPr>
          <p:spPr>
            <a:xfrm>
              <a:off x="1196975" y="9943038"/>
              <a:ext cx="5885996" cy="400110"/>
            </a:xfrm>
            <a:prstGeom prst="rect">
              <a:avLst/>
            </a:prstGeom>
            <a:noFill/>
          </p:spPr>
          <p:txBody>
            <a:bodyPr wrap="square">
              <a:spAutoFit/>
            </a:bodyPr>
            <a:lstStyle/>
            <a:p>
              <a:pPr algn="ctr"/>
              <a:r>
                <a:rPr lang="en-US" sz="2000" u="sng" dirty="0"/>
                <a:t>Reproduced Metrics and Sample Prediction</a:t>
              </a:r>
              <a:endParaRPr lang="en-GB" sz="2000" dirty="0"/>
            </a:p>
          </p:txBody>
        </p:sp>
      </p:grpSp>
      <p:graphicFrame>
        <p:nvGraphicFramePr>
          <p:cNvPr id="43" name="Table 42">
            <a:extLst>
              <a:ext uri="{FF2B5EF4-FFF2-40B4-BE49-F238E27FC236}">
                <a16:creationId xmlns:a16="http://schemas.microsoft.com/office/drawing/2014/main" id="{8BC222C2-6E7A-8974-C698-D81FC11A7C17}"/>
              </a:ext>
            </a:extLst>
          </p:cNvPr>
          <p:cNvGraphicFramePr>
            <a:graphicFrameLocks noGrp="1"/>
          </p:cNvGraphicFramePr>
          <p:nvPr>
            <p:extLst>
              <p:ext uri="{D42A27DB-BD31-4B8C-83A1-F6EECF244321}">
                <p14:modId xmlns:p14="http://schemas.microsoft.com/office/powerpoint/2010/main" val="352023376"/>
              </p:ext>
            </p:extLst>
          </p:nvPr>
        </p:nvGraphicFramePr>
        <p:xfrm>
          <a:off x="7068657" y="10177305"/>
          <a:ext cx="5390040" cy="1186815"/>
        </p:xfrm>
        <a:graphic>
          <a:graphicData uri="http://schemas.openxmlformats.org/drawingml/2006/table">
            <a:tbl>
              <a:tblPr>
                <a:tableStyleId>{5C22544A-7EE6-4342-B048-85BDC9FD1C3A}</a:tableStyleId>
              </a:tblPr>
              <a:tblGrid>
                <a:gridCol w="1656243">
                  <a:extLst>
                    <a:ext uri="{9D8B030D-6E8A-4147-A177-3AD203B41FA5}">
                      <a16:colId xmlns:a16="http://schemas.microsoft.com/office/drawing/2014/main" val="1581020777"/>
                    </a:ext>
                  </a:extLst>
                </a:gridCol>
                <a:gridCol w="1076325">
                  <a:extLst>
                    <a:ext uri="{9D8B030D-6E8A-4147-A177-3AD203B41FA5}">
                      <a16:colId xmlns:a16="http://schemas.microsoft.com/office/drawing/2014/main" val="2776545358"/>
                    </a:ext>
                  </a:extLst>
                </a:gridCol>
                <a:gridCol w="1114425">
                  <a:extLst>
                    <a:ext uri="{9D8B030D-6E8A-4147-A177-3AD203B41FA5}">
                      <a16:colId xmlns:a16="http://schemas.microsoft.com/office/drawing/2014/main" val="2866995498"/>
                    </a:ext>
                  </a:extLst>
                </a:gridCol>
                <a:gridCol w="800100">
                  <a:extLst>
                    <a:ext uri="{9D8B030D-6E8A-4147-A177-3AD203B41FA5}">
                      <a16:colId xmlns:a16="http://schemas.microsoft.com/office/drawing/2014/main" val="1828433977"/>
                    </a:ext>
                  </a:extLst>
                </a:gridCol>
                <a:gridCol w="742947">
                  <a:extLst>
                    <a:ext uri="{9D8B030D-6E8A-4147-A177-3AD203B41FA5}">
                      <a16:colId xmlns:a16="http://schemas.microsoft.com/office/drawing/2014/main" val="4866388"/>
                    </a:ext>
                  </a:extLst>
                </a:gridCol>
              </a:tblGrid>
              <a:tr h="363625">
                <a:tc>
                  <a:txBody>
                    <a:bodyPr/>
                    <a:lstStyle/>
                    <a:p>
                      <a:pPr algn="ctr" fontAlgn="b">
                        <a:buNone/>
                      </a:pPr>
                      <a:r>
                        <a:rPr lang="en-GB" sz="1800" b="1" u="none" strike="noStrike" dirty="0">
                          <a:effectLst/>
                        </a:rPr>
                        <a:t>Baseline vs Reproduced</a:t>
                      </a:r>
                      <a:endParaRPr lang="en-GB" sz="18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1800" b="1" u="none" strike="noStrike" dirty="0">
                          <a:effectLst/>
                        </a:rPr>
                        <a:t>Accuracy</a:t>
                      </a:r>
                      <a:endParaRPr lang="en-GB" sz="1800" b="1" i="0" u="none" strike="noStrike" dirty="0">
                        <a:solidFill>
                          <a:srgbClr val="000000"/>
                        </a:solidFill>
                        <a:effectLst/>
                        <a:latin typeface="Consolas" panose="020B0609020204030204" pitchFamily="49"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1800" b="1" u="none" strike="noStrike" dirty="0">
                          <a:effectLst/>
                        </a:rPr>
                        <a:t>Precision</a:t>
                      </a:r>
                      <a:endParaRPr lang="en-GB" sz="18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1800" b="1" u="none" strike="noStrike" dirty="0">
                          <a:effectLst/>
                        </a:rPr>
                        <a:t>Recall</a:t>
                      </a:r>
                      <a:endParaRPr lang="en-GB" sz="18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1800" b="1" u="none" strike="noStrike" dirty="0">
                          <a:effectLst/>
                        </a:rPr>
                        <a:t>F1</a:t>
                      </a:r>
                      <a:endParaRPr lang="en-GB" sz="18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97920366"/>
                  </a:ext>
                </a:extLst>
              </a:tr>
              <a:tr h="223450">
                <a:tc>
                  <a:txBody>
                    <a:bodyPr/>
                    <a:lstStyle/>
                    <a:p>
                      <a:pPr algn="ctr" fontAlgn="b">
                        <a:buNone/>
                      </a:pPr>
                      <a:r>
                        <a:rPr lang="en-GB" sz="2000" u="none" strike="noStrike" dirty="0">
                          <a:effectLst/>
                        </a:rPr>
                        <a:t>Baseline</a:t>
                      </a:r>
                      <a:endParaRPr lang="en-GB" sz="20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2000" u="none" strike="noStrike" dirty="0">
                          <a:effectLst/>
                        </a:rPr>
                        <a:t>97.5%</a:t>
                      </a:r>
                      <a:endParaRPr lang="en-GB" sz="20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2000" u="none" strike="noStrike" dirty="0">
                          <a:effectLst/>
                        </a:rPr>
                        <a:t>97.6%</a:t>
                      </a:r>
                      <a:endParaRPr lang="en-GB" sz="20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2000" u="none" strike="noStrike" dirty="0">
                          <a:effectLst/>
                        </a:rPr>
                        <a:t>97.5%</a:t>
                      </a:r>
                      <a:endParaRPr lang="en-GB" sz="20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2000" u="none" strike="noStrike" dirty="0">
                          <a:effectLst/>
                        </a:rPr>
                        <a:t>97.5%</a:t>
                      </a:r>
                      <a:endParaRPr lang="en-GB" sz="20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1823127"/>
                  </a:ext>
                </a:extLst>
              </a:tr>
              <a:tr h="223450">
                <a:tc>
                  <a:txBody>
                    <a:bodyPr/>
                    <a:lstStyle/>
                    <a:p>
                      <a:pPr algn="ctr" fontAlgn="b">
                        <a:buNone/>
                      </a:pPr>
                      <a:r>
                        <a:rPr lang="en-GB" sz="2000" u="none" strike="noStrike" dirty="0">
                          <a:effectLst/>
                        </a:rPr>
                        <a:t>Reproduced</a:t>
                      </a:r>
                      <a:endParaRPr lang="en-GB" sz="20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2000" b="1" u="none" strike="noStrike" dirty="0">
                          <a:solidFill>
                            <a:srgbClr val="00B050"/>
                          </a:solidFill>
                          <a:effectLst/>
                        </a:rPr>
                        <a:t>97%</a:t>
                      </a:r>
                      <a:endParaRPr lang="en-GB" sz="2000" b="1" i="0" u="none" strike="noStrike" dirty="0">
                        <a:solidFill>
                          <a:srgbClr val="00B05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2000" b="1" u="none" strike="noStrike" dirty="0">
                          <a:solidFill>
                            <a:srgbClr val="00B050"/>
                          </a:solidFill>
                          <a:effectLst/>
                        </a:rPr>
                        <a:t>98.1%</a:t>
                      </a:r>
                      <a:endParaRPr lang="en-GB" sz="2000" b="1" i="0" u="none" strike="noStrike" dirty="0">
                        <a:solidFill>
                          <a:srgbClr val="00B05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GB" sz="2000" b="1" u="none" strike="noStrike" dirty="0">
                          <a:solidFill>
                            <a:srgbClr val="00B050"/>
                          </a:solidFill>
                          <a:effectLst/>
                        </a:rPr>
                        <a:t>95.9%</a:t>
                      </a:r>
                      <a:endParaRPr lang="en-GB" sz="2000" b="1" i="0" u="none" strike="noStrike" dirty="0">
                        <a:solidFill>
                          <a:srgbClr val="00B05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US" sz="2000" b="1" i="0" u="none" strike="noStrike" dirty="0">
                          <a:solidFill>
                            <a:srgbClr val="00B050"/>
                          </a:solidFill>
                          <a:effectLst/>
                          <a:latin typeface="Aptos Narrow" panose="020B0004020202020204" pitchFamily="34" charset="0"/>
                        </a:rPr>
                        <a:t>9</a:t>
                      </a:r>
                      <a:r>
                        <a:rPr lang="en-GB" sz="2000" b="1" i="0" u="none" strike="noStrike" dirty="0">
                          <a:solidFill>
                            <a:srgbClr val="00B050"/>
                          </a:solidFill>
                          <a:effectLst/>
                          <a:latin typeface="Aptos Narrow" panose="020B000402020202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70718"/>
                  </a:ext>
                </a:extLst>
              </a:tr>
            </a:tbl>
          </a:graphicData>
        </a:graphic>
      </p:graphicFrame>
      <p:sp>
        <p:nvSpPr>
          <p:cNvPr id="97" name="Rectangle 96">
            <a:extLst>
              <a:ext uri="{FF2B5EF4-FFF2-40B4-BE49-F238E27FC236}">
                <a16:creationId xmlns:a16="http://schemas.microsoft.com/office/drawing/2014/main" id="{0BE4D47B-CEFE-F3FA-24A8-CD6B08F8DDAC}"/>
              </a:ext>
            </a:extLst>
          </p:cNvPr>
          <p:cNvSpPr/>
          <p:nvPr/>
        </p:nvSpPr>
        <p:spPr>
          <a:xfrm>
            <a:off x="29751424" y="21611079"/>
            <a:ext cx="1543302" cy="43818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3" name="Picture 92" descr="A yellow sign with white text&#10;&#10;AI-generated content may be incorrect.">
            <a:extLst>
              <a:ext uri="{FF2B5EF4-FFF2-40B4-BE49-F238E27FC236}">
                <a16:creationId xmlns:a16="http://schemas.microsoft.com/office/drawing/2014/main" id="{92370ECF-4E00-A989-4090-19BB9E257636}"/>
              </a:ext>
            </a:extLst>
          </p:cNvPr>
          <p:cNvPicPr>
            <a:picLocks noChangeAspect="1"/>
          </p:cNvPicPr>
          <p:nvPr/>
        </p:nvPicPr>
        <p:blipFill>
          <a:blip r:embed="rId5"/>
          <a:stretch>
            <a:fillRect/>
          </a:stretch>
        </p:blipFill>
        <p:spPr>
          <a:xfrm>
            <a:off x="29884037" y="24589711"/>
            <a:ext cx="1290128" cy="1290128"/>
          </a:xfrm>
          <a:prstGeom prst="rect">
            <a:avLst/>
          </a:prstGeom>
          <a:ln w="57150">
            <a:solidFill>
              <a:srgbClr val="00B0F0"/>
            </a:solidFill>
          </a:ln>
        </p:spPr>
      </p:pic>
      <p:pic>
        <p:nvPicPr>
          <p:cNvPr id="95" name="Picture 94" descr="A green and white sign with a planet earth in the middle&#10;&#10;AI-generated content may be incorrect.">
            <a:extLst>
              <a:ext uri="{FF2B5EF4-FFF2-40B4-BE49-F238E27FC236}">
                <a16:creationId xmlns:a16="http://schemas.microsoft.com/office/drawing/2014/main" id="{29E4383B-86ED-A1A1-0219-7005EA1B4430}"/>
              </a:ext>
            </a:extLst>
          </p:cNvPr>
          <p:cNvPicPr>
            <a:picLocks noChangeAspect="1"/>
          </p:cNvPicPr>
          <p:nvPr/>
        </p:nvPicPr>
        <p:blipFill>
          <a:blip r:embed="rId6"/>
          <a:stretch>
            <a:fillRect/>
          </a:stretch>
        </p:blipFill>
        <p:spPr>
          <a:xfrm>
            <a:off x="29884037" y="23155351"/>
            <a:ext cx="1290128" cy="1290128"/>
          </a:xfrm>
          <a:prstGeom prst="rect">
            <a:avLst/>
          </a:prstGeom>
          <a:ln w="57150">
            <a:solidFill>
              <a:srgbClr val="00B0F0"/>
            </a:solidFill>
          </a:ln>
        </p:spPr>
      </p:pic>
      <p:pic>
        <p:nvPicPr>
          <p:cNvPr id="96" name="Picture 95">
            <a:extLst>
              <a:ext uri="{FF2B5EF4-FFF2-40B4-BE49-F238E27FC236}">
                <a16:creationId xmlns:a16="http://schemas.microsoft.com/office/drawing/2014/main" id="{ACF8A777-BD47-66FD-FEA8-128E3A2B1353}"/>
              </a:ext>
            </a:extLst>
          </p:cNvPr>
          <p:cNvPicPr>
            <a:picLocks noChangeAspect="1"/>
          </p:cNvPicPr>
          <p:nvPr/>
        </p:nvPicPr>
        <p:blipFill>
          <a:blip r:embed="rId7"/>
          <a:srcRect/>
          <a:stretch/>
        </p:blipFill>
        <p:spPr>
          <a:xfrm>
            <a:off x="29884037" y="21722616"/>
            <a:ext cx="1290128" cy="1288503"/>
          </a:xfrm>
          <a:prstGeom prst="rect">
            <a:avLst/>
          </a:prstGeom>
          <a:ln w="57150">
            <a:solidFill>
              <a:srgbClr val="00B0F0"/>
            </a:solidFill>
          </a:ln>
        </p:spPr>
      </p:pic>
      <p:sp>
        <p:nvSpPr>
          <p:cNvPr id="105" name="TextBox 104">
            <a:extLst>
              <a:ext uri="{FF2B5EF4-FFF2-40B4-BE49-F238E27FC236}">
                <a16:creationId xmlns:a16="http://schemas.microsoft.com/office/drawing/2014/main" id="{F2350812-1DD5-60FC-C401-B8C088B4934C}"/>
              </a:ext>
            </a:extLst>
          </p:cNvPr>
          <p:cNvSpPr txBox="1"/>
          <p:nvPr/>
        </p:nvSpPr>
        <p:spPr>
          <a:xfrm>
            <a:off x="1196975" y="6137994"/>
            <a:ext cx="11363326" cy="3354765"/>
          </a:xfrm>
          <a:prstGeom prst="rect">
            <a:avLst/>
          </a:prstGeom>
          <a:noFill/>
        </p:spPr>
        <p:txBody>
          <a:bodyPr wrap="square" rtlCol="0">
            <a:spAutoFit/>
          </a:bodyPr>
          <a:lstStyle/>
          <a:p>
            <a:pPr algn="just">
              <a:spcAft>
                <a:spcPts val="1200"/>
              </a:spcAft>
            </a:pPr>
            <a:r>
              <a:rPr lang="en-US" sz="2600" dirty="0"/>
              <a:t>This project builds on top of John D. and Zhang C. (2022) paper on deforestation segmentation [1]. The paper outlines several key concepts:</a:t>
            </a:r>
          </a:p>
          <a:p>
            <a:pPr marL="342900" indent="-342900" algn="just">
              <a:spcAft>
                <a:spcPts val="1200"/>
              </a:spcAft>
              <a:buFont typeface="+mj-lt"/>
              <a:buAutoNum type="arabicPeriod"/>
            </a:pPr>
            <a:r>
              <a:rPr lang="en-US" sz="2600" dirty="0"/>
              <a:t>Introduces the Attention U-Net architecture that in theory improves focus on relevant spatial features (forest / non-forest) for segmentation. </a:t>
            </a:r>
          </a:p>
          <a:p>
            <a:pPr marL="342900" indent="-342900" algn="just">
              <a:spcAft>
                <a:spcPts val="1200"/>
              </a:spcAft>
              <a:buFont typeface="+mj-lt"/>
              <a:buAutoNum type="arabicPeriod"/>
            </a:pPr>
            <a:r>
              <a:rPr lang="en-US" sz="2600" dirty="0"/>
              <a:t>Pursues environmental monitoring by detecting deforestation.</a:t>
            </a:r>
          </a:p>
          <a:p>
            <a:pPr marL="342900" indent="-342900">
              <a:spcAft>
                <a:spcPts val="1200"/>
              </a:spcAft>
              <a:buFont typeface="+mj-lt"/>
              <a:buAutoNum type="arabicPeriod"/>
            </a:pPr>
            <a:r>
              <a:rPr lang="en-US" sz="2600" dirty="0"/>
              <a:t>Establishes the baseline result between multiple convolution models, with Attention U-Net having the best scores.</a:t>
            </a:r>
          </a:p>
        </p:txBody>
      </p:sp>
      <p:sp>
        <p:nvSpPr>
          <p:cNvPr id="108" name="Text Placeholder 30" descr="Department or institution">
            <a:extLst>
              <a:ext uri="{FF2B5EF4-FFF2-40B4-BE49-F238E27FC236}">
                <a16:creationId xmlns:a16="http://schemas.microsoft.com/office/drawing/2014/main" id="{E6B3E777-8B76-3DAE-4FB2-F6DC9019623D}"/>
              </a:ext>
            </a:extLst>
          </p:cNvPr>
          <p:cNvSpPr txBox="1">
            <a:spLocks/>
          </p:cNvSpPr>
          <p:nvPr/>
        </p:nvSpPr>
        <p:spPr>
          <a:xfrm>
            <a:off x="1058784" y="4132189"/>
            <a:ext cx="35504166" cy="480131"/>
          </a:xfrm>
          <a:prstGeom prst="rect">
            <a:avLst/>
          </a:prstGeom>
          <a:solidFill>
            <a:schemeClr val="tx1"/>
          </a:solidFill>
        </p:spPr>
        <p:txBody>
          <a:bodyPr wrap="square" lIns="0">
            <a:spAutoFit/>
          </a:bodyPr>
          <a:lstStyle>
            <a:lvl1pPr marL="0" indent="0" algn="l" defTabSz="3209320" rtl="0" eaLnBrk="1" latinLnBrk="0" hangingPunct="1">
              <a:lnSpc>
                <a:spcPct val="90000"/>
              </a:lnSpc>
              <a:spcBef>
                <a:spcPts val="3510"/>
              </a:spcBef>
              <a:buFont typeface="Arial" panose="020B0604020202020204" pitchFamily="34" charset="0"/>
              <a:buNone/>
              <a:defRPr sz="2800" b="1" kern="1200">
                <a:solidFill>
                  <a:schemeClr val="bg1"/>
                </a:solidFill>
                <a:latin typeface="+mj-lt"/>
                <a:ea typeface="+mn-ea"/>
                <a:cs typeface="+mn-cs"/>
              </a:defRPr>
            </a:lvl1pPr>
            <a:lvl2pPr marL="2406990" indent="-802331" algn="l" defTabSz="3209320" rtl="0" eaLnBrk="1" latinLnBrk="0" hangingPunct="1">
              <a:lnSpc>
                <a:spcPct val="90000"/>
              </a:lnSpc>
              <a:spcBef>
                <a:spcPts val="1755"/>
              </a:spcBef>
              <a:buFont typeface="Arial" panose="020B0604020202020204" pitchFamily="34" charset="0"/>
              <a:buChar char="•"/>
              <a:defRPr sz="8423" kern="1200">
                <a:solidFill>
                  <a:schemeClr val="tx1"/>
                </a:solidFill>
                <a:latin typeface="+mn-lt"/>
                <a:ea typeface="+mn-ea"/>
                <a:cs typeface="+mn-cs"/>
              </a:defRPr>
            </a:lvl2pPr>
            <a:lvl3pPr marL="4011651" indent="-802331" algn="l" defTabSz="3209320" rtl="0" eaLnBrk="1" latinLnBrk="0" hangingPunct="1">
              <a:lnSpc>
                <a:spcPct val="90000"/>
              </a:lnSpc>
              <a:spcBef>
                <a:spcPts val="1755"/>
              </a:spcBef>
              <a:buFont typeface="Arial" panose="020B0604020202020204" pitchFamily="34" charset="0"/>
              <a:buChar char="•"/>
              <a:defRPr sz="7019" kern="1200">
                <a:solidFill>
                  <a:schemeClr val="tx1"/>
                </a:solidFill>
                <a:latin typeface="+mn-lt"/>
                <a:ea typeface="+mn-ea"/>
                <a:cs typeface="+mn-cs"/>
              </a:defRPr>
            </a:lvl3pPr>
            <a:lvl4pPr marL="561631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4pPr>
            <a:lvl5pPr marL="722097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5pPr>
            <a:lvl6pPr marL="882563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6pPr>
            <a:lvl7pPr marL="1043029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7pPr>
            <a:lvl8pPr marL="1203495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8pPr>
            <a:lvl9pPr marL="1363961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9pPr>
          </a:lstStyle>
          <a:p>
            <a:r>
              <a:rPr lang="en-US" b="0" dirty="0"/>
              <a:t>GitHub: </a:t>
            </a:r>
            <a:r>
              <a:rPr lang="en-US" b="0" dirty="0">
                <a:hlinkClick r:id="rId8">
                  <a:extLst>
                    <a:ext uri="{A12FA001-AC4F-418D-AE19-62706E023703}">
                      <ahyp:hlinkClr xmlns:ahyp="http://schemas.microsoft.com/office/drawing/2018/hyperlinkcolor" val="tx"/>
                    </a:ext>
                  </a:extLst>
                </a:hlinkClick>
              </a:rPr>
              <a:t>https://github.com/nicholas-tobias-00/attention_unet_for_oil_spill</a:t>
            </a:r>
            <a:endParaRPr lang="en-GB" b="0" dirty="0"/>
          </a:p>
        </p:txBody>
      </p:sp>
      <p:sp>
        <p:nvSpPr>
          <p:cNvPr id="129" name="TextBox 128">
            <a:extLst>
              <a:ext uri="{FF2B5EF4-FFF2-40B4-BE49-F238E27FC236}">
                <a16:creationId xmlns:a16="http://schemas.microsoft.com/office/drawing/2014/main" id="{A62B5F68-D502-D9AF-FC35-E54256AD5C8E}"/>
              </a:ext>
            </a:extLst>
          </p:cNvPr>
          <p:cNvSpPr txBox="1"/>
          <p:nvPr/>
        </p:nvSpPr>
        <p:spPr>
          <a:xfrm>
            <a:off x="34924180" y="6706919"/>
            <a:ext cx="6863319" cy="3221196"/>
          </a:xfrm>
          <a:prstGeom prst="rect">
            <a:avLst/>
          </a:prstGeom>
          <a:solidFill>
            <a:schemeClr val="bg1">
              <a:lumMod val="85000"/>
            </a:schemeClr>
          </a:solidFill>
        </p:spPr>
        <p:txBody>
          <a:bodyPr wrap="square" rtlCol="0">
            <a:noAutofit/>
          </a:bodyPr>
          <a:lstStyle/>
          <a:p>
            <a:pPr algn="ctr">
              <a:spcAft>
                <a:spcPts val="600"/>
              </a:spcAft>
            </a:pPr>
            <a:r>
              <a:rPr lang="en-US" sz="2000" b="1" dirty="0"/>
              <a:t>Key Observations (after 20 epochs): </a:t>
            </a:r>
            <a:endParaRPr lang="en-US" sz="2000" dirty="0"/>
          </a:p>
          <a:p>
            <a:pPr marL="342900" indent="-342900" algn="just">
              <a:spcAft>
                <a:spcPts val="1800"/>
              </a:spcAft>
              <a:buFont typeface="+mj-lt"/>
              <a:buAutoNum type="arabicPeriod"/>
            </a:pPr>
            <a:r>
              <a:rPr lang="en-US" dirty="0"/>
              <a:t>Weighted BCE helps address imbalanced dataset, increasing recall and </a:t>
            </a:r>
            <a:r>
              <a:rPr lang="en-US" dirty="0" err="1"/>
              <a:t>IoU</a:t>
            </a:r>
            <a:r>
              <a:rPr lang="en-US" dirty="0"/>
              <a:t> significantly</a:t>
            </a:r>
          </a:p>
          <a:p>
            <a:pPr marL="342900" indent="-342900" algn="just">
              <a:spcAft>
                <a:spcPts val="1800"/>
              </a:spcAft>
              <a:buFont typeface="+mj-lt"/>
              <a:buAutoNum type="arabicPeriod"/>
            </a:pPr>
            <a:r>
              <a:rPr lang="en-US" dirty="0"/>
              <a:t>Model achieved high accuracy, but scores lower on other metrics.</a:t>
            </a:r>
          </a:p>
          <a:p>
            <a:pPr marL="895350" lvl="1" indent="-438150" algn="just">
              <a:spcAft>
                <a:spcPts val="1800"/>
              </a:spcAft>
              <a:buFont typeface="Wingdings" panose="05000000000000000000" pitchFamily="2" charset="2"/>
              <a:buChar char="à"/>
            </a:pPr>
            <a:r>
              <a:rPr lang="en-US" dirty="0"/>
              <a:t>Accuracy is high as “no oil” cases are abundant.</a:t>
            </a:r>
          </a:p>
          <a:p>
            <a:pPr marL="895350" lvl="1" indent="-438150" algn="just">
              <a:spcAft>
                <a:spcPts val="1800"/>
              </a:spcAft>
              <a:buFont typeface="Wingdings" panose="05000000000000000000" pitchFamily="2" charset="2"/>
              <a:buChar char="à"/>
            </a:pPr>
            <a:r>
              <a:rPr lang="en-US" dirty="0"/>
              <a:t>Model can detect oil spills correctly but still </a:t>
            </a:r>
            <a:r>
              <a:rPr lang="en-US" u="sng" dirty="0"/>
              <a:t>requires improvement in its segmentation quality</a:t>
            </a:r>
            <a:r>
              <a:rPr lang="en-US" dirty="0"/>
              <a:t>.</a:t>
            </a:r>
          </a:p>
        </p:txBody>
      </p:sp>
      <p:pic>
        <p:nvPicPr>
          <p:cNvPr id="132" name="Picture 131">
            <a:extLst>
              <a:ext uri="{FF2B5EF4-FFF2-40B4-BE49-F238E27FC236}">
                <a16:creationId xmlns:a16="http://schemas.microsoft.com/office/drawing/2014/main" id="{470BCA29-CEE9-F0C7-1416-5A0F210D5EFA}"/>
              </a:ext>
            </a:extLst>
          </p:cNvPr>
          <p:cNvPicPr>
            <a:picLocks noChangeAspect="1"/>
          </p:cNvPicPr>
          <p:nvPr/>
        </p:nvPicPr>
        <p:blipFill>
          <a:blip r:embed="rId9"/>
          <a:srcRect t="419" b="23984"/>
          <a:stretch>
            <a:fillRect/>
          </a:stretch>
        </p:blipFill>
        <p:spPr>
          <a:xfrm>
            <a:off x="29762198" y="10129432"/>
            <a:ext cx="12025301" cy="8693928"/>
          </a:xfrm>
          <a:prstGeom prst="rect">
            <a:avLst/>
          </a:prstGeom>
          <a:ln>
            <a:solidFill>
              <a:schemeClr val="tx1"/>
            </a:solidFill>
          </a:ln>
        </p:spPr>
      </p:pic>
      <p:sp>
        <p:nvSpPr>
          <p:cNvPr id="134" name="TextBox 133">
            <a:extLst>
              <a:ext uri="{FF2B5EF4-FFF2-40B4-BE49-F238E27FC236}">
                <a16:creationId xmlns:a16="http://schemas.microsoft.com/office/drawing/2014/main" id="{23D6C623-706C-B62D-E0B7-1B0F3370A28F}"/>
              </a:ext>
            </a:extLst>
          </p:cNvPr>
          <p:cNvSpPr txBox="1"/>
          <p:nvPr/>
        </p:nvSpPr>
        <p:spPr>
          <a:xfrm>
            <a:off x="31414149" y="21722616"/>
            <a:ext cx="10362577" cy="1288503"/>
          </a:xfrm>
          <a:prstGeom prst="rect">
            <a:avLst/>
          </a:prstGeom>
          <a:solidFill>
            <a:schemeClr val="accent3"/>
          </a:solidFill>
        </p:spPr>
        <p:txBody>
          <a:bodyPr wrap="square" rtlCol="0" anchor="ctr" anchorCtr="0">
            <a:noAutofit/>
          </a:bodyPr>
          <a:lstStyle/>
          <a:p>
            <a:pPr algn="just"/>
            <a:r>
              <a:rPr lang="en-US" sz="2000" b="1" dirty="0"/>
              <a:t>Primary SDG – 14: Life Below Water (14.1, 14.2, 14.A)</a:t>
            </a:r>
            <a:endParaRPr lang="en-US" sz="2000" dirty="0"/>
          </a:p>
          <a:p>
            <a:pPr marL="285750" indent="-285750" algn="just">
              <a:buFont typeface="Arial" panose="020B0604020202020204" pitchFamily="34" charset="0"/>
              <a:buChar char="•"/>
            </a:pPr>
            <a:r>
              <a:rPr lang="en-US" sz="2000" b="1" dirty="0"/>
              <a:t>14.1</a:t>
            </a:r>
            <a:r>
              <a:rPr lang="en-US" sz="2000" dirty="0"/>
              <a:t>: Reducing marine pollution by early oil spill detection.</a:t>
            </a:r>
          </a:p>
          <a:p>
            <a:pPr marL="285750" indent="-285750" algn="just">
              <a:buFont typeface="Arial" panose="020B0604020202020204" pitchFamily="34" charset="0"/>
              <a:buChar char="•"/>
            </a:pPr>
            <a:r>
              <a:rPr lang="en-US" sz="2000" b="1" dirty="0"/>
              <a:t>14.2</a:t>
            </a:r>
            <a:r>
              <a:rPr lang="en-US" sz="2000" dirty="0"/>
              <a:t>: Supports protection of marine ecosystem by monitoring.</a:t>
            </a:r>
          </a:p>
          <a:p>
            <a:pPr marL="285750" indent="-285750" algn="just">
              <a:buFont typeface="Arial" panose="020B0604020202020204" pitchFamily="34" charset="0"/>
              <a:buChar char="•"/>
            </a:pPr>
            <a:r>
              <a:rPr lang="en-US" sz="2000" b="1" dirty="0"/>
              <a:t>14.A</a:t>
            </a:r>
            <a:r>
              <a:rPr lang="en-US" sz="2000" dirty="0"/>
              <a:t>: Contributes to enhancing ocean science.</a:t>
            </a:r>
          </a:p>
        </p:txBody>
      </p:sp>
      <p:sp>
        <p:nvSpPr>
          <p:cNvPr id="135" name="TextBox 134">
            <a:extLst>
              <a:ext uri="{FF2B5EF4-FFF2-40B4-BE49-F238E27FC236}">
                <a16:creationId xmlns:a16="http://schemas.microsoft.com/office/drawing/2014/main" id="{83CB0938-2480-1119-7C26-6B4E73896B44}"/>
              </a:ext>
            </a:extLst>
          </p:cNvPr>
          <p:cNvSpPr txBox="1"/>
          <p:nvPr/>
        </p:nvSpPr>
        <p:spPr>
          <a:xfrm>
            <a:off x="31403375" y="23155351"/>
            <a:ext cx="10362577" cy="1288503"/>
          </a:xfrm>
          <a:prstGeom prst="rect">
            <a:avLst/>
          </a:prstGeom>
          <a:solidFill>
            <a:schemeClr val="accent3"/>
          </a:solidFill>
        </p:spPr>
        <p:txBody>
          <a:bodyPr wrap="square" rtlCol="0" anchor="ctr" anchorCtr="0">
            <a:noAutofit/>
          </a:bodyPr>
          <a:lstStyle/>
          <a:p>
            <a:pPr algn="just"/>
            <a:r>
              <a:rPr lang="en-US" sz="2000" b="1" dirty="0"/>
              <a:t>Primary SDG – 13: Climate Action (13.1, 13.2, 13.3)</a:t>
            </a:r>
            <a:endParaRPr lang="en-US" sz="2000" dirty="0"/>
          </a:p>
          <a:p>
            <a:pPr marL="285750" indent="-285750" algn="just">
              <a:buFont typeface="Arial" panose="020B0604020202020204" pitchFamily="34" charset="0"/>
              <a:buChar char="•"/>
            </a:pPr>
            <a:r>
              <a:rPr lang="en-US" sz="2000" b="1" dirty="0"/>
              <a:t>13.1</a:t>
            </a:r>
            <a:r>
              <a:rPr lang="en-US" sz="2000" dirty="0"/>
              <a:t>: Increasing resilience and adaptive capacity to climate-related hazards.</a:t>
            </a:r>
          </a:p>
          <a:p>
            <a:pPr marL="285750" indent="-285750" algn="just">
              <a:buFont typeface="Arial" panose="020B0604020202020204" pitchFamily="34" charset="0"/>
              <a:buChar char="•"/>
            </a:pPr>
            <a:r>
              <a:rPr lang="en-US" sz="2000" b="1" dirty="0"/>
              <a:t>13.2</a:t>
            </a:r>
            <a:r>
              <a:rPr lang="en-US" sz="2000" dirty="0"/>
              <a:t>: Provides data to support further climate action or policies.</a:t>
            </a:r>
          </a:p>
          <a:p>
            <a:pPr marL="285750" indent="-285750" algn="just">
              <a:buFont typeface="Arial" panose="020B0604020202020204" pitchFamily="34" charset="0"/>
              <a:buChar char="•"/>
            </a:pPr>
            <a:r>
              <a:rPr lang="en-US" sz="2000" b="1" dirty="0"/>
              <a:t>13.3</a:t>
            </a:r>
            <a:r>
              <a:rPr lang="en-US" sz="2000" dirty="0"/>
              <a:t>: Provides foundation for autonomous monitoring and awareness of oil spills.</a:t>
            </a:r>
          </a:p>
        </p:txBody>
      </p:sp>
      <p:sp>
        <p:nvSpPr>
          <p:cNvPr id="141" name="TextBox 140">
            <a:extLst>
              <a:ext uri="{FF2B5EF4-FFF2-40B4-BE49-F238E27FC236}">
                <a16:creationId xmlns:a16="http://schemas.microsoft.com/office/drawing/2014/main" id="{3202D322-9A9E-142C-A709-1B42989F3BE4}"/>
              </a:ext>
            </a:extLst>
          </p:cNvPr>
          <p:cNvSpPr txBox="1"/>
          <p:nvPr/>
        </p:nvSpPr>
        <p:spPr>
          <a:xfrm>
            <a:off x="31403375" y="24588086"/>
            <a:ext cx="10362577" cy="1288503"/>
          </a:xfrm>
          <a:prstGeom prst="rect">
            <a:avLst/>
          </a:prstGeom>
          <a:solidFill>
            <a:schemeClr val="accent3"/>
          </a:solidFill>
        </p:spPr>
        <p:txBody>
          <a:bodyPr wrap="square" rtlCol="0" anchor="ctr" anchorCtr="0">
            <a:noAutofit/>
          </a:bodyPr>
          <a:lstStyle/>
          <a:p>
            <a:r>
              <a:rPr lang="en-US" sz="2000" b="1" dirty="0"/>
              <a:t>Primary SDG – 12: Responsible Consumption and Production (12.4, 12.6)</a:t>
            </a:r>
            <a:endParaRPr lang="en-US" sz="2000" dirty="0"/>
          </a:p>
          <a:p>
            <a:pPr marL="285750" indent="-285750">
              <a:buFont typeface="Arial" panose="020B0604020202020204" pitchFamily="34" charset="0"/>
              <a:buChar char="•"/>
            </a:pPr>
            <a:r>
              <a:rPr lang="en-US" sz="2000" b="1" dirty="0"/>
              <a:t>12.4</a:t>
            </a:r>
            <a:r>
              <a:rPr lang="en-US" sz="2000" dirty="0"/>
              <a:t>: Supports safe management of toxics and chemicals by autonomous monitoring and early detection.</a:t>
            </a:r>
          </a:p>
          <a:p>
            <a:pPr marL="285750" indent="-285750">
              <a:buFont typeface="Arial" panose="020B0604020202020204" pitchFamily="34" charset="0"/>
              <a:buChar char="•"/>
            </a:pPr>
            <a:r>
              <a:rPr lang="en-US" sz="2000" b="1" dirty="0"/>
              <a:t>12.6</a:t>
            </a:r>
            <a:r>
              <a:rPr lang="en-US" sz="2000" dirty="0"/>
              <a:t>: Encourages companies to adopt sustainable practice by raising accountability.</a:t>
            </a:r>
          </a:p>
        </p:txBody>
      </p:sp>
      <p:sp>
        <p:nvSpPr>
          <p:cNvPr id="143" name="TextBox 142">
            <a:extLst>
              <a:ext uri="{FF2B5EF4-FFF2-40B4-BE49-F238E27FC236}">
                <a16:creationId xmlns:a16="http://schemas.microsoft.com/office/drawing/2014/main" id="{F768BA7E-5BF6-70C9-5074-C1908649AE63}"/>
              </a:ext>
            </a:extLst>
          </p:cNvPr>
          <p:cNvSpPr txBox="1"/>
          <p:nvPr/>
        </p:nvSpPr>
        <p:spPr>
          <a:xfrm>
            <a:off x="34193214" y="26077905"/>
            <a:ext cx="7572737" cy="1406994"/>
          </a:xfrm>
          <a:prstGeom prst="rect">
            <a:avLst/>
          </a:prstGeom>
          <a:solidFill>
            <a:schemeClr val="accent6">
              <a:lumMod val="20000"/>
              <a:lumOff val="80000"/>
            </a:schemeClr>
          </a:solidFill>
        </p:spPr>
        <p:txBody>
          <a:bodyPr wrap="square" rtlCol="0" anchor="ctr" anchorCtr="0">
            <a:noAutofit/>
          </a:bodyPr>
          <a:lstStyle/>
          <a:p>
            <a:pPr algn="just"/>
            <a:r>
              <a:rPr lang="en-US" b="1" dirty="0"/>
              <a:t>Possible Negative SDG Interactions:</a:t>
            </a:r>
            <a:endParaRPr lang="en-US" sz="1200" b="1" dirty="0"/>
          </a:p>
          <a:p>
            <a:pPr marL="171450" indent="-171450" algn="just">
              <a:buFont typeface="Arial" panose="020B0604020202020204" pitchFamily="34" charset="0"/>
              <a:buChar char="•"/>
            </a:pPr>
            <a:r>
              <a:rPr lang="en-US" b="1" dirty="0"/>
              <a:t>SDG 7.2</a:t>
            </a:r>
            <a:r>
              <a:rPr lang="en-US" dirty="0"/>
              <a:t>: Increased energy usage for model training</a:t>
            </a:r>
            <a:endParaRPr lang="en-US" sz="1200" dirty="0"/>
          </a:p>
          <a:p>
            <a:pPr marL="171450" indent="-171450" algn="just">
              <a:buFont typeface="Arial" panose="020B0604020202020204" pitchFamily="34" charset="0"/>
              <a:buChar char="•"/>
            </a:pPr>
            <a:r>
              <a:rPr lang="en-US" b="1" dirty="0"/>
              <a:t>SDG 8.5</a:t>
            </a:r>
            <a:r>
              <a:rPr lang="en-US" dirty="0"/>
              <a:t>: Automation of monitoring tasks may reduce certain job roles.</a:t>
            </a:r>
            <a:endParaRPr lang="en-US" sz="1400" dirty="0"/>
          </a:p>
          <a:p>
            <a:pPr marL="171450" indent="-171450" algn="just">
              <a:buFont typeface="Arial" panose="020B0604020202020204" pitchFamily="34" charset="0"/>
              <a:buChar char="•"/>
            </a:pPr>
            <a:r>
              <a:rPr lang="en-US" b="1" dirty="0"/>
              <a:t>SDG 9.1</a:t>
            </a:r>
            <a:r>
              <a:rPr lang="en-US" dirty="0"/>
              <a:t>: Heavy reliance on advanced compute and satellite systems may widen </a:t>
            </a:r>
            <a:r>
              <a:rPr lang="en-US" u="sng" dirty="0"/>
              <a:t>technological inequalities</a:t>
            </a:r>
            <a:r>
              <a:rPr lang="en-US" dirty="0"/>
              <a:t>.</a:t>
            </a:r>
          </a:p>
        </p:txBody>
      </p:sp>
      <p:grpSp>
        <p:nvGrpSpPr>
          <p:cNvPr id="164" name="Group 163">
            <a:extLst>
              <a:ext uri="{FF2B5EF4-FFF2-40B4-BE49-F238E27FC236}">
                <a16:creationId xmlns:a16="http://schemas.microsoft.com/office/drawing/2014/main" id="{CF5A9027-295D-67D0-9C4F-4D4996525296}"/>
              </a:ext>
            </a:extLst>
          </p:cNvPr>
          <p:cNvGrpSpPr/>
          <p:nvPr/>
        </p:nvGrpSpPr>
        <p:grpSpPr>
          <a:xfrm>
            <a:off x="1196975" y="9749514"/>
            <a:ext cx="5671680" cy="6289845"/>
            <a:chOff x="1196975" y="13399157"/>
            <a:chExt cx="5369294" cy="6289845"/>
          </a:xfrm>
        </p:grpSpPr>
        <p:grpSp>
          <p:nvGrpSpPr>
            <p:cNvPr id="118" name="Group 117">
              <a:extLst>
                <a:ext uri="{FF2B5EF4-FFF2-40B4-BE49-F238E27FC236}">
                  <a16:creationId xmlns:a16="http://schemas.microsoft.com/office/drawing/2014/main" id="{E1599502-91F3-1652-EF22-4E0FA4645C83}"/>
                </a:ext>
              </a:extLst>
            </p:cNvPr>
            <p:cNvGrpSpPr/>
            <p:nvPr/>
          </p:nvGrpSpPr>
          <p:grpSpPr>
            <a:xfrm>
              <a:off x="1196975" y="13399157"/>
              <a:ext cx="5369294" cy="6289845"/>
              <a:chOff x="6908583" y="10182054"/>
              <a:chExt cx="5369294" cy="6289845"/>
            </a:xfrm>
          </p:grpSpPr>
          <p:grpSp>
            <p:nvGrpSpPr>
              <p:cNvPr id="119" name="Group 118">
                <a:extLst>
                  <a:ext uri="{FF2B5EF4-FFF2-40B4-BE49-F238E27FC236}">
                    <a16:creationId xmlns:a16="http://schemas.microsoft.com/office/drawing/2014/main" id="{3EA6B714-3E14-C6F9-2640-020768780ACF}"/>
                  </a:ext>
                </a:extLst>
              </p:cNvPr>
              <p:cNvGrpSpPr/>
              <p:nvPr/>
            </p:nvGrpSpPr>
            <p:grpSpPr>
              <a:xfrm>
                <a:off x="6908583" y="10182054"/>
                <a:ext cx="5369294" cy="6289845"/>
                <a:chOff x="7191375" y="8650258"/>
                <a:chExt cx="17427440" cy="6289845"/>
              </a:xfrm>
            </p:grpSpPr>
            <p:sp>
              <p:nvSpPr>
                <p:cNvPr id="124" name="Rectangle 123">
                  <a:extLst>
                    <a:ext uri="{FF2B5EF4-FFF2-40B4-BE49-F238E27FC236}">
                      <a16:creationId xmlns:a16="http://schemas.microsoft.com/office/drawing/2014/main" id="{184A2AA3-5F01-0A08-B25E-D119D161B600}"/>
                    </a:ext>
                  </a:extLst>
                </p:cNvPr>
                <p:cNvSpPr/>
                <p:nvPr/>
              </p:nvSpPr>
              <p:spPr>
                <a:xfrm>
                  <a:off x="7191375" y="8650258"/>
                  <a:ext cx="17390483" cy="628984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TextBox 124">
                  <a:extLst>
                    <a:ext uri="{FF2B5EF4-FFF2-40B4-BE49-F238E27FC236}">
                      <a16:creationId xmlns:a16="http://schemas.microsoft.com/office/drawing/2014/main" id="{DF41EF60-E92A-5A0A-553A-EEF2243A8280}"/>
                    </a:ext>
                  </a:extLst>
                </p:cNvPr>
                <p:cNvSpPr txBox="1"/>
                <p:nvPr/>
              </p:nvSpPr>
              <p:spPr>
                <a:xfrm>
                  <a:off x="7233990" y="8650259"/>
                  <a:ext cx="17384825" cy="400110"/>
                </a:xfrm>
                <a:prstGeom prst="rect">
                  <a:avLst/>
                </a:prstGeom>
                <a:noFill/>
              </p:spPr>
              <p:txBody>
                <a:bodyPr wrap="square">
                  <a:spAutoFit/>
                </a:bodyPr>
                <a:lstStyle/>
                <a:p>
                  <a:pPr algn="ctr"/>
                  <a:r>
                    <a:rPr lang="en-US" sz="2000" u="sng" dirty="0"/>
                    <a:t>Relevant SDGs</a:t>
                  </a:r>
                  <a:endParaRPr lang="en-GB" sz="2000" u="sng" dirty="0"/>
                </a:p>
              </p:txBody>
            </p:sp>
          </p:grpSp>
          <p:pic>
            <p:nvPicPr>
              <p:cNvPr id="120" name="Picture 119" descr="A logo on an orange background&#10;&#10;AI-generated content may be incorrect.">
                <a:extLst>
                  <a:ext uri="{FF2B5EF4-FFF2-40B4-BE49-F238E27FC236}">
                    <a16:creationId xmlns:a16="http://schemas.microsoft.com/office/drawing/2014/main" id="{88A37E90-E1BB-DB6F-0C97-B6E0F73922F6}"/>
                  </a:ext>
                </a:extLst>
              </p:cNvPr>
              <p:cNvPicPr>
                <a:picLocks noChangeAspect="1"/>
              </p:cNvPicPr>
              <p:nvPr/>
            </p:nvPicPr>
            <p:blipFill>
              <a:blip r:embed="rId10"/>
              <a:stretch>
                <a:fillRect/>
              </a:stretch>
            </p:blipFill>
            <p:spPr>
              <a:xfrm>
                <a:off x="7005437" y="15056452"/>
                <a:ext cx="1290128" cy="1290128"/>
              </a:xfrm>
              <a:prstGeom prst="rect">
                <a:avLst/>
              </a:prstGeom>
              <a:ln w="57150">
                <a:noFill/>
              </a:ln>
            </p:spPr>
          </p:pic>
          <p:pic>
            <p:nvPicPr>
              <p:cNvPr id="121" name="Picture 120" descr="A yellow sign with white text&#10;&#10;AI-generated content may be incorrect.">
                <a:extLst>
                  <a:ext uri="{FF2B5EF4-FFF2-40B4-BE49-F238E27FC236}">
                    <a16:creationId xmlns:a16="http://schemas.microsoft.com/office/drawing/2014/main" id="{B8789F66-DFFE-04D1-E524-19F496D90356}"/>
                  </a:ext>
                </a:extLst>
              </p:cNvPr>
              <p:cNvPicPr>
                <a:picLocks noChangeAspect="1"/>
              </p:cNvPicPr>
              <p:nvPr/>
            </p:nvPicPr>
            <p:blipFill>
              <a:blip r:embed="rId5"/>
              <a:stretch>
                <a:fillRect/>
              </a:stretch>
            </p:blipFill>
            <p:spPr>
              <a:xfrm>
                <a:off x="7005437" y="13578162"/>
                <a:ext cx="1290128" cy="1290128"/>
              </a:xfrm>
              <a:prstGeom prst="rect">
                <a:avLst/>
              </a:prstGeom>
              <a:ln w="57150">
                <a:solidFill>
                  <a:srgbClr val="00B050"/>
                </a:solidFill>
              </a:ln>
            </p:spPr>
          </p:pic>
          <p:pic>
            <p:nvPicPr>
              <p:cNvPr id="122" name="Picture 121" descr="A green and white sign with a planet earth in the middle&#10;&#10;AI-generated content may be incorrect.">
                <a:extLst>
                  <a:ext uri="{FF2B5EF4-FFF2-40B4-BE49-F238E27FC236}">
                    <a16:creationId xmlns:a16="http://schemas.microsoft.com/office/drawing/2014/main" id="{27E856F4-BC4C-EB69-8A22-A1BA252B6C1A}"/>
                  </a:ext>
                </a:extLst>
              </p:cNvPr>
              <p:cNvPicPr>
                <a:picLocks noChangeAspect="1"/>
              </p:cNvPicPr>
              <p:nvPr/>
            </p:nvPicPr>
            <p:blipFill>
              <a:blip r:embed="rId6"/>
              <a:stretch>
                <a:fillRect/>
              </a:stretch>
            </p:blipFill>
            <p:spPr>
              <a:xfrm>
                <a:off x="7032558" y="12099871"/>
                <a:ext cx="1290128" cy="1290128"/>
              </a:xfrm>
              <a:prstGeom prst="rect">
                <a:avLst/>
              </a:prstGeom>
              <a:ln w="57150">
                <a:solidFill>
                  <a:srgbClr val="00B050"/>
                </a:solidFill>
              </a:ln>
            </p:spPr>
          </p:pic>
          <p:pic>
            <p:nvPicPr>
              <p:cNvPr id="123" name="Picture 122" descr="A green sign with white text and a tree and birds&#10;&#10;AI-generated content may be incorrect.">
                <a:extLst>
                  <a:ext uri="{FF2B5EF4-FFF2-40B4-BE49-F238E27FC236}">
                    <a16:creationId xmlns:a16="http://schemas.microsoft.com/office/drawing/2014/main" id="{C2F0DB63-6A6E-825C-5C18-05802EA96C9E}"/>
                  </a:ext>
                </a:extLst>
              </p:cNvPr>
              <p:cNvPicPr>
                <a:picLocks noChangeAspect="1"/>
              </p:cNvPicPr>
              <p:nvPr/>
            </p:nvPicPr>
            <p:blipFill>
              <a:blip r:embed="rId11"/>
              <a:stretch>
                <a:fillRect/>
              </a:stretch>
            </p:blipFill>
            <p:spPr>
              <a:xfrm>
                <a:off x="7032558" y="10621580"/>
                <a:ext cx="1290128" cy="1290128"/>
              </a:xfrm>
              <a:prstGeom prst="rect">
                <a:avLst/>
              </a:prstGeom>
              <a:ln w="57150">
                <a:solidFill>
                  <a:srgbClr val="00B050"/>
                </a:solidFill>
              </a:ln>
            </p:spPr>
          </p:pic>
        </p:grpSp>
        <p:sp>
          <p:nvSpPr>
            <p:cNvPr id="153" name="TextBox 152">
              <a:extLst>
                <a:ext uri="{FF2B5EF4-FFF2-40B4-BE49-F238E27FC236}">
                  <a16:creationId xmlns:a16="http://schemas.microsoft.com/office/drawing/2014/main" id="{5B143F01-30DF-4548-5866-A05B33C9AC56}"/>
                </a:ext>
              </a:extLst>
            </p:cNvPr>
            <p:cNvSpPr txBox="1"/>
            <p:nvPr/>
          </p:nvSpPr>
          <p:spPr>
            <a:xfrm>
              <a:off x="2724133" y="13840308"/>
              <a:ext cx="3682726" cy="1288503"/>
            </a:xfrm>
            <a:prstGeom prst="rect">
              <a:avLst/>
            </a:prstGeom>
            <a:solidFill>
              <a:schemeClr val="bg1">
                <a:lumMod val="95000"/>
              </a:schemeClr>
            </a:solidFill>
          </p:spPr>
          <p:txBody>
            <a:bodyPr wrap="square" rtlCol="0" anchor="ctr" anchorCtr="0">
              <a:noAutofit/>
            </a:bodyPr>
            <a:lstStyle/>
            <a:p>
              <a:pPr algn="just">
                <a:spcBef>
                  <a:spcPts val="100"/>
                </a:spcBef>
              </a:pPr>
              <a:r>
                <a:rPr lang="en-US" sz="2000" b="1" dirty="0"/>
                <a:t>Primary (15.1, 15.2, 15.5)</a:t>
              </a:r>
            </a:p>
            <a:p>
              <a:pPr algn="just">
                <a:spcBef>
                  <a:spcPts val="600"/>
                </a:spcBef>
              </a:pPr>
              <a:r>
                <a:rPr lang="en-US" sz="2000" dirty="0"/>
                <a:t>monitoring land-cover change and  tracking deforestation.</a:t>
              </a:r>
            </a:p>
          </p:txBody>
        </p:sp>
        <p:sp>
          <p:nvSpPr>
            <p:cNvPr id="154" name="TextBox 153">
              <a:extLst>
                <a:ext uri="{FF2B5EF4-FFF2-40B4-BE49-F238E27FC236}">
                  <a16:creationId xmlns:a16="http://schemas.microsoft.com/office/drawing/2014/main" id="{BDC099EA-890B-F120-D1E9-6ACB449FF524}"/>
                </a:ext>
              </a:extLst>
            </p:cNvPr>
            <p:cNvSpPr txBox="1"/>
            <p:nvPr/>
          </p:nvSpPr>
          <p:spPr>
            <a:xfrm>
              <a:off x="2724133" y="15318599"/>
              <a:ext cx="3682726" cy="1288503"/>
            </a:xfrm>
            <a:prstGeom prst="rect">
              <a:avLst/>
            </a:prstGeom>
            <a:solidFill>
              <a:schemeClr val="bg1">
                <a:lumMod val="95000"/>
              </a:schemeClr>
            </a:solidFill>
          </p:spPr>
          <p:txBody>
            <a:bodyPr wrap="square" rtlCol="0" anchor="ctr" anchorCtr="0">
              <a:noAutofit/>
            </a:bodyPr>
            <a:lstStyle/>
            <a:p>
              <a:pPr algn="just"/>
              <a:r>
                <a:rPr lang="en-US" sz="2000" b="1" dirty="0"/>
                <a:t>Primary (13.1 and 13.2)</a:t>
              </a:r>
            </a:p>
            <a:p>
              <a:pPr algn="just"/>
              <a:r>
                <a:rPr lang="en-US" sz="2000" dirty="0"/>
                <a:t>provides data for land-use and detect environmental changes early.</a:t>
              </a:r>
            </a:p>
          </p:txBody>
        </p:sp>
        <p:sp>
          <p:nvSpPr>
            <p:cNvPr id="155" name="TextBox 154">
              <a:extLst>
                <a:ext uri="{FF2B5EF4-FFF2-40B4-BE49-F238E27FC236}">
                  <a16:creationId xmlns:a16="http://schemas.microsoft.com/office/drawing/2014/main" id="{BE0B554E-1DF5-2FAC-C1C9-1C937DB4CE2E}"/>
                </a:ext>
              </a:extLst>
            </p:cNvPr>
            <p:cNvSpPr txBox="1"/>
            <p:nvPr/>
          </p:nvSpPr>
          <p:spPr>
            <a:xfrm>
              <a:off x="2724133" y="16796890"/>
              <a:ext cx="3682726" cy="1288503"/>
            </a:xfrm>
            <a:prstGeom prst="rect">
              <a:avLst/>
            </a:prstGeom>
            <a:solidFill>
              <a:schemeClr val="bg1">
                <a:lumMod val="95000"/>
              </a:schemeClr>
            </a:solidFill>
          </p:spPr>
          <p:txBody>
            <a:bodyPr wrap="square" rtlCol="0" anchor="ctr" anchorCtr="0">
              <a:noAutofit/>
            </a:bodyPr>
            <a:lstStyle/>
            <a:p>
              <a:pPr algn="just">
                <a:spcAft>
                  <a:spcPts val="600"/>
                </a:spcAft>
              </a:pPr>
              <a:r>
                <a:rPr lang="en-US" sz="2000" b="1" dirty="0"/>
                <a:t>Primary (12.2 and 12.6)</a:t>
              </a:r>
            </a:p>
            <a:p>
              <a:pPr algn="just">
                <a:spcAft>
                  <a:spcPts val="600"/>
                </a:spcAft>
              </a:pPr>
              <a:r>
                <a:rPr lang="en-US" sz="2000" dirty="0"/>
                <a:t>transparent land use monitoring and accountability for industries linked to deforestation</a:t>
              </a:r>
            </a:p>
          </p:txBody>
        </p:sp>
        <p:sp>
          <p:nvSpPr>
            <p:cNvPr id="156" name="TextBox 155">
              <a:extLst>
                <a:ext uri="{FF2B5EF4-FFF2-40B4-BE49-F238E27FC236}">
                  <a16:creationId xmlns:a16="http://schemas.microsoft.com/office/drawing/2014/main" id="{C4D1B4C3-340F-E4CC-A9D9-86F50677951D}"/>
                </a:ext>
              </a:extLst>
            </p:cNvPr>
            <p:cNvSpPr txBox="1"/>
            <p:nvPr/>
          </p:nvSpPr>
          <p:spPr>
            <a:xfrm>
              <a:off x="2724133" y="18275180"/>
              <a:ext cx="3682726" cy="1288503"/>
            </a:xfrm>
            <a:prstGeom prst="rect">
              <a:avLst/>
            </a:prstGeom>
            <a:solidFill>
              <a:schemeClr val="bg1">
                <a:lumMod val="75000"/>
              </a:schemeClr>
            </a:solidFill>
          </p:spPr>
          <p:txBody>
            <a:bodyPr wrap="square" rtlCol="0" anchor="ctr" anchorCtr="0">
              <a:noAutofit/>
            </a:bodyPr>
            <a:lstStyle/>
            <a:p>
              <a:pPr algn="just">
                <a:spcAft>
                  <a:spcPts val="600"/>
                </a:spcAft>
              </a:pPr>
              <a:r>
                <a:rPr lang="en-US" sz="2000" b="1" dirty="0"/>
                <a:t>Secondary (9.5)</a:t>
              </a:r>
            </a:p>
            <a:p>
              <a:pPr algn="just">
                <a:spcAft>
                  <a:spcPts val="600"/>
                </a:spcAft>
              </a:pPr>
              <a:r>
                <a:rPr lang="en-US" sz="2000" dirty="0"/>
                <a:t>Supporting research and innovation in remote sensing and AI.</a:t>
              </a:r>
            </a:p>
          </p:txBody>
        </p:sp>
      </p:grpSp>
      <p:pic>
        <p:nvPicPr>
          <p:cNvPr id="92" name="Picture 91">
            <a:extLst>
              <a:ext uri="{FF2B5EF4-FFF2-40B4-BE49-F238E27FC236}">
                <a16:creationId xmlns:a16="http://schemas.microsoft.com/office/drawing/2014/main" id="{88A7BBEE-5747-4D8D-AD5F-EDC9EF4CFD87}"/>
              </a:ext>
            </a:extLst>
          </p:cNvPr>
          <p:cNvPicPr>
            <a:picLocks noChangeAspect="1"/>
          </p:cNvPicPr>
          <p:nvPr/>
        </p:nvPicPr>
        <p:blipFill>
          <a:blip r:embed="rId12"/>
          <a:srcRect/>
          <a:stretch/>
        </p:blipFill>
        <p:spPr>
          <a:xfrm>
            <a:off x="29884039" y="26136631"/>
            <a:ext cx="1290128" cy="1290128"/>
          </a:xfrm>
          <a:prstGeom prst="rect">
            <a:avLst/>
          </a:prstGeom>
          <a:ln w="57150">
            <a:solidFill>
              <a:schemeClr val="accent6"/>
            </a:solidFill>
          </a:ln>
        </p:spPr>
      </p:pic>
      <p:pic>
        <p:nvPicPr>
          <p:cNvPr id="99" name="Picture 98">
            <a:extLst>
              <a:ext uri="{FF2B5EF4-FFF2-40B4-BE49-F238E27FC236}">
                <a16:creationId xmlns:a16="http://schemas.microsoft.com/office/drawing/2014/main" id="{ED1CCC04-25AE-39C6-F9F6-5CB14E08EACD}"/>
              </a:ext>
            </a:extLst>
          </p:cNvPr>
          <p:cNvPicPr>
            <a:picLocks noChangeAspect="1"/>
          </p:cNvPicPr>
          <p:nvPr/>
        </p:nvPicPr>
        <p:blipFill>
          <a:blip r:embed="rId13"/>
          <a:srcRect/>
          <a:stretch/>
        </p:blipFill>
        <p:spPr>
          <a:xfrm>
            <a:off x="31320431" y="26130819"/>
            <a:ext cx="1290128" cy="1290128"/>
          </a:xfrm>
          <a:prstGeom prst="rect">
            <a:avLst/>
          </a:prstGeom>
          <a:ln w="57150">
            <a:solidFill>
              <a:schemeClr val="accent6"/>
            </a:solidFill>
          </a:ln>
        </p:spPr>
      </p:pic>
      <p:sp>
        <p:nvSpPr>
          <p:cNvPr id="158" name="TextBox 157">
            <a:extLst>
              <a:ext uri="{FF2B5EF4-FFF2-40B4-BE49-F238E27FC236}">
                <a16:creationId xmlns:a16="http://schemas.microsoft.com/office/drawing/2014/main" id="{D6145F5C-CAE3-3350-0314-CF4316AECA5F}"/>
              </a:ext>
            </a:extLst>
          </p:cNvPr>
          <p:cNvSpPr txBox="1"/>
          <p:nvPr/>
        </p:nvSpPr>
        <p:spPr>
          <a:xfrm>
            <a:off x="29751424" y="20281664"/>
            <a:ext cx="12014528" cy="1216336"/>
          </a:xfrm>
          <a:prstGeom prst="rect">
            <a:avLst/>
          </a:prstGeom>
          <a:noFill/>
        </p:spPr>
        <p:txBody>
          <a:bodyPr wrap="square" rtlCol="0" anchor="ctr" anchorCtr="0">
            <a:noAutofit/>
          </a:bodyPr>
          <a:lstStyle/>
          <a:p>
            <a:pPr algn="just"/>
            <a:r>
              <a:rPr lang="en-US" sz="2300" dirty="0"/>
              <a:t>This project shows the use of AI and satellite imagery to support environmental protection. Using Attention U-Net for oil spill detection aligns the work with key SDGs, demonstrating how digital innovation improves monitoring and strengthens climate resilience.</a:t>
            </a:r>
          </a:p>
        </p:txBody>
      </p:sp>
      <p:sp>
        <p:nvSpPr>
          <p:cNvPr id="159" name="Rectangle 158">
            <a:extLst>
              <a:ext uri="{FF2B5EF4-FFF2-40B4-BE49-F238E27FC236}">
                <a16:creationId xmlns:a16="http://schemas.microsoft.com/office/drawing/2014/main" id="{13EF8A08-F586-145A-7AC5-6BA605401D9B}"/>
              </a:ext>
            </a:extLst>
          </p:cNvPr>
          <p:cNvSpPr/>
          <p:nvPr/>
        </p:nvSpPr>
        <p:spPr>
          <a:xfrm>
            <a:off x="13202199" y="24060149"/>
            <a:ext cx="15972085" cy="5268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rPr>
              <a:t>Training Information</a:t>
            </a:r>
            <a:endParaRPr lang="en-GB" sz="3200" b="1" dirty="0">
              <a:solidFill>
                <a:schemeClr val="bg1"/>
              </a:solidFill>
            </a:endParaRPr>
          </a:p>
        </p:txBody>
      </p:sp>
      <p:sp>
        <p:nvSpPr>
          <p:cNvPr id="160" name="Rectangle 159">
            <a:extLst>
              <a:ext uri="{FF2B5EF4-FFF2-40B4-BE49-F238E27FC236}">
                <a16:creationId xmlns:a16="http://schemas.microsoft.com/office/drawing/2014/main" id="{41E21D50-A7C0-AE67-E001-08B896EAD7D5}"/>
              </a:ext>
            </a:extLst>
          </p:cNvPr>
          <p:cNvSpPr/>
          <p:nvPr/>
        </p:nvSpPr>
        <p:spPr>
          <a:xfrm>
            <a:off x="13202199" y="24588086"/>
            <a:ext cx="15972085" cy="30563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spcAft>
                <a:spcPts val="600"/>
              </a:spcAft>
              <a:buFont typeface="Arial" panose="020B0604020202020204" pitchFamily="34" charset="0"/>
              <a:buChar char="•"/>
            </a:pPr>
            <a:r>
              <a:rPr lang="en-GB" sz="2600" dirty="0">
                <a:solidFill>
                  <a:schemeClr val="tx1"/>
                </a:solidFill>
              </a:rPr>
              <a:t>Dataset split for train / validation / test split : 2,184 / 386 / 450 (72% / 13% / 15%)</a:t>
            </a:r>
          </a:p>
          <a:p>
            <a:pPr marL="342900" indent="-342900">
              <a:spcAft>
                <a:spcPts val="600"/>
              </a:spcAft>
              <a:buFont typeface="Arial" panose="020B0604020202020204" pitchFamily="34" charset="0"/>
              <a:buChar char="•"/>
            </a:pPr>
            <a:r>
              <a:rPr lang="en-GB" sz="2600" dirty="0">
                <a:solidFill>
                  <a:schemeClr val="tx1"/>
                </a:solidFill>
              </a:rPr>
              <a:t>Total dataset size	: 127 GB</a:t>
            </a:r>
          </a:p>
          <a:p>
            <a:pPr marL="342900" indent="-342900">
              <a:spcAft>
                <a:spcPts val="600"/>
              </a:spcAft>
              <a:buFont typeface="Arial" panose="020B0604020202020204" pitchFamily="34" charset="0"/>
              <a:buChar char="•"/>
            </a:pPr>
            <a:r>
              <a:rPr lang="en-GB" sz="2600" dirty="0">
                <a:solidFill>
                  <a:schemeClr val="tx1"/>
                </a:solidFill>
              </a:rPr>
              <a:t>Final training has been conducted with an RTX 5070:</a:t>
            </a:r>
          </a:p>
          <a:p>
            <a:pPr marL="800100" lvl="1" indent="-342900">
              <a:spcAft>
                <a:spcPts val="600"/>
              </a:spcAft>
              <a:buFont typeface="Arial" panose="020B0604020202020204" pitchFamily="34" charset="0"/>
              <a:buChar char="•"/>
            </a:pPr>
            <a:r>
              <a:rPr lang="en-GB" sz="2600" dirty="0">
                <a:solidFill>
                  <a:schemeClr val="tx1"/>
                </a:solidFill>
              </a:rPr>
              <a:t>Total runtime		: 4.5 hours</a:t>
            </a:r>
          </a:p>
          <a:p>
            <a:pPr marL="800100" lvl="1" indent="-342900">
              <a:spcAft>
                <a:spcPts val="600"/>
              </a:spcAft>
              <a:buFont typeface="Arial" panose="020B0604020202020204" pitchFamily="34" charset="0"/>
              <a:buChar char="•"/>
            </a:pPr>
            <a:r>
              <a:rPr lang="en-GB" sz="2600" dirty="0">
                <a:solidFill>
                  <a:schemeClr val="tx1"/>
                </a:solidFill>
              </a:rPr>
              <a:t>Epoch				: 20</a:t>
            </a:r>
          </a:p>
          <a:p>
            <a:pPr marL="800100" lvl="1" indent="-342900">
              <a:spcAft>
                <a:spcPts val="600"/>
              </a:spcAft>
              <a:buFont typeface="Arial" panose="020B0604020202020204" pitchFamily="34" charset="0"/>
              <a:buChar char="•"/>
            </a:pPr>
            <a:r>
              <a:rPr lang="en-GB" sz="2600" dirty="0">
                <a:solidFill>
                  <a:schemeClr val="tx1"/>
                </a:solidFill>
              </a:rPr>
              <a:t>Learning Rate	: 1e-4</a:t>
            </a:r>
          </a:p>
        </p:txBody>
      </p:sp>
      <p:pic>
        <p:nvPicPr>
          <p:cNvPr id="161" name="Picture 160" descr="A logo on an orange background&#10;&#10;AI-generated content may be incorrect.">
            <a:extLst>
              <a:ext uri="{FF2B5EF4-FFF2-40B4-BE49-F238E27FC236}">
                <a16:creationId xmlns:a16="http://schemas.microsoft.com/office/drawing/2014/main" id="{6E003FDF-E222-7B60-A0E0-E426C3FCE219}"/>
              </a:ext>
            </a:extLst>
          </p:cNvPr>
          <p:cNvPicPr>
            <a:picLocks noChangeAspect="1"/>
          </p:cNvPicPr>
          <p:nvPr/>
        </p:nvPicPr>
        <p:blipFill>
          <a:blip r:embed="rId10"/>
          <a:stretch>
            <a:fillRect/>
          </a:stretch>
        </p:blipFill>
        <p:spPr>
          <a:xfrm>
            <a:off x="32756823" y="26130819"/>
            <a:ext cx="1290128" cy="1290128"/>
          </a:xfrm>
          <a:prstGeom prst="rect">
            <a:avLst/>
          </a:prstGeom>
          <a:ln w="57150">
            <a:solidFill>
              <a:schemeClr val="accent6"/>
            </a:solidFill>
          </a:ln>
        </p:spPr>
      </p:pic>
      <p:pic>
        <p:nvPicPr>
          <p:cNvPr id="166" name="Picture 165" descr="A graph of loss and loss&#10;&#10;AI-generated content may be incorrect.">
            <a:extLst>
              <a:ext uri="{FF2B5EF4-FFF2-40B4-BE49-F238E27FC236}">
                <a16:creationId xmlns:a16="http://schemas.microsoft.com/office/drawing/2014/main" id="{3E52F47D-7A23-5FE5-C0BF-2F999C17AB10}"/>
              </a:ext>
            </a:extLst>
          </p:cNvPr>
          <p:cNvPicPr>
            <a:picLocks noChangeAspect="1"/>
          </p:cNvPicPr>
          <p:nvPr/>
        </p:nvPicPr>
        <p:blipFill>
          <a:blip r:embed="rId14"/>
          <a:srcRect l="49893" t="11623"/>
          <a:stretch>
            <a:fillRect/>
          </a:stretch>
        </p:blipFill>
        <p:spPr>
          <a:xfrm>
            <a:off x="1210103" y="16118044"/>
            <a:ext cx="5658552" cy="3267957"/>
          </a:xfrm>
          <a:prstGeom prst="rect">
            <a:avLst/>
          </a:prstGeom>
          <a:ln>
            <a:solidFill>
              <a:schemeClr val="tx1"/>
            </a:solidFill>
          </a:ln>
        </p:spPr>
      </p:pic>
      <p:sp>
        <p:nvSpPr>
          <p:cNvPr id="172" name="TextBox 171">
            <a:extLst>
              <a:ext uri="{FF2B5EF4-FFF2-40B4-BE49-F238E27FC236}">
                <a16:creationId xmlns:a16="http://schemas.microsoft.com/office/drawing/2014/main" id="{74F58BA1-1F15-1036-254B-DFA12C253E9D}"/>
              </a:ext>
            </a:extLst>
          </p:cNvPr>
          <p:cNvSpPr txBox="1"/>
          <p:nvPr/>
        </p:nvSpPr>
        <p:spPr>
          <a:xfrm>
            <a:off x="1012092" y="19485812"/>
            <a:ext cx="11724676" cy="307777"/>
          </a:xfrm>
          <a:prstGeom prst="rect">
            <a:avLst/>
          </a:prstGeom>
          <a:noFill/>
        </p:spPr>
        <p:txBody>
          <a:bodyPr wrap="square">
            <a:spAutoFit/>
          </a:bodyPr>
          <a:lstStyle/>
          <a:p>
            <a:pPr algn="ctr"/>
            <a:r>
              <a:rPr lang="en-US" sz="1400" dirty="0"/>
              <a:t>Figure 1 (Clockwise Order): Training Curve and Relevant SDGs, Metrics Comparison, and Sample Predictions for Reproduced Model (epoch = 50)</a:t>
            </a:r>
            <a:endParaRPr lang="en-GB" sz="1400" dirty="0"/>
          </a:p>
        </p:txBody>
      </p:sp>
      <p:grpSp>
        <p:nvGrpSpPr>
          <p:cNvPr id="174" name="Group 173">
            <a:extLst>
              <a:ext uri="{FF2B5EF4-FFF2-40B4-BE49-F238E27FC236}">
                <a16:creationId xmlns:a16="http://schemas.microsoft.com/office/drawing/2014/main" id="{DEB0B385-4C72-4888-5DC2-7F6AB406943F}"/>
              </a:ext>
            </a:extLst>
          </p:cNvPr>
          <p:cNvGrpSpPr/>
          <p:nvPr/>
        </p:nvGrpSpPr>
        <p:grpSpPr>
          <a:xfrm>
            <a:off x="13367739" y="17217774"/>
            <a:ext cx="15601950" cy="6612605"/>
            <a:chOff x="13392150" y="16118811"/>
            <a:chExt cx="15601950" cy="6612605"/>
          </a:xfrm>
        </p:grpSpPr>
        <p:pic>
          <p:nvPicPr>
            <p:cNvPr id="170" name="Picture 169">
              <a:extLst>
                <a:ext uri="{FF2B5EF4-FFF2-40B4-BE49-F238E27FC236}">
                  <a16:creationId xmlns:a16="http://schemas.microsoft.com/office/drawing/2014/main" id="{83F9A5FC-EF4E-2251-94C9-41108409E854}"/>
                </a:ext>
              </a:extLst>
            </p:cNvPr>
            <p:cNvPicPr>
              <a:picLocks noChangeAspect="1"/>
            </p:cNvPicPr>
            <p:nvPr/>
          </p:nvPicPr>
          <p:blipFill>
            <a:blip r:embed="rId15"/>
            <a:srcRect/>
            <a:stretch/>
          </p:blipFill>
          <p:spPr>
            <a:xfrm>
              <a:off x="13392150" y="16118811"/>
              <a:ext cx="15601950" cy="6274051"/>
            </a:xfrm>
            <a:prstGeom prst="rect">
              <a:avLst/>
            </a:prstGeom>
            <a:ln>
              <a:solidFill>
                <a:schemeClr val="tx1"/>
              </a:solidFill>
            </a:ln>
          </p:spPr>
        </p:pic>
        <p:sp>
          <p:nvSpPr>
            <p:cNvPr id="173" name="TextBox 172">
              <a:extLst>
                <a:ext uri="{FF2B5EF4-FFF2-40B4-BE49-F238E27FC236}">
                  <a16:creationId xmlns:a16="http://schemas.microsoft.com/office/drawing/2014/main" id="{16026083-FBA6-CA2B-EC15-630B2FCFF3BF}"/>
                </a:ext>
              </a:extLst>
            </p:cNvPr>
            <p:cNvSpPr txBox="1"/>
            <p:nvPr/>
          </p:nvSpPr>
          <p:spPr>
            <a:xfrm>
              <a:off x="15327137" y="22392862"/>
              <a:ext cx="11724676" cy="338554"/>
            </a:xfrm>
            <a:prstGeom prst="rect">
              <a:avLst/>
            </a:prstGeom>
            <a:noFill/>
          </p:spPr>
          <p:txBody>
            <a:bodyPr wrap="square">
              <a:spAutoFit/>
            </a:bodyPr>
            <a:lstStyle/>
            <a:p>
              <a:pPr algn="ctr"/>
              <a:r>
                <a:rPr lang="en-US" sz="1600" dirty="0"/>
                <a:t>Figure 3 : Attention U-Net Diagram (made with PlotNeuralNet [3])</a:t>
              </a:r>
              <a:endParaRPr lang="en-GB" sz="1600" dirty="0"/>
            </a:p>
          </p:txBody>
        </p:sp>
      </p:grpSp>
      <p:sp>
        <p:nvSpPr>
          <p:cNvPr id="175" name="TextBox 174">
            <a:extLst>
              <a:ext uri="{FF2B5EF4-FFF2-40B4-BE49-F238E27FC236}">
                <a16:creationId xmlns:a16="http://schemas.microsoft.com/office/drawing/2014/main" id="{B32E30EA-8C07-28AA-1E58-E9ACD99FBB22}"/>
              </a:ext>
            </a:extLst>
          </p:cNvPr>
          <p:cNvSpPr txBox="1"/>
          <p:nvPr/>
        </p:nvSpPr>
        <p:spPr>
          <a:xfrm>
            <a:off x="29751423" y="18850989"/>
            <a:ext cx="12036075" cy="338554"/>
          </a:xfrm>
          <a:prstGeom prst="rect">
            <a:avLst/>
          </a:prstGeom>
          <a:noFill/>
        </p:spPr>
        <p:txBody>
          <a:bodyPr wrap="square">
            <a:spAutoFit/>
          </a:bodyPr>
          <a:lstStyle/>
          <a:p>
            <a:pPr algn="ctr"/>
            <a:r>
              <a:rPr lang="en-US" sz="1600" dirty="0"/>
              <a:t>Figure 4: Oil Spill Detection Test Metrics and Sample Predictions</a:t>
            </a:r>
            <a:endParaRPr lang="en-GB" sz="1600" dirty="0"/>
          </a:p>
        </p:txBody>
      </p:sp>
      <p:sp>
        <p:nvSpPr>
          <p:cNvPr id="179" name="TextBox 178">
            <a:extLst>
              <a:ext uri="{FF2B5EF4-FFF2-40B4-BE49-F238E27FC236}">
                <a16:creationId xmlns:a16="http://schemas.microsoft.com/office/drawing/2014/main" id="{4D07F828-7566-6687-ADC2-1CF0325FF5B1}"/>
              </a:ext>
            </a:extLst>
          </p:cNvPr>
          <p:cNvSpPr txBox="1"/>
          <p:nvPr/>
        </p:nvSpPr>
        <p:spPr>
          <a:xfrm>
            <a:off x="1196975" y="20990066"/>
            <a:ext cx="11363326" cy="6655668"/>
          </a:xfrm>
          <a:prstGeom prst="rect">
            <a:avLst/>
          </a:prstGeom>
          <a:noFill/>
        </p:spPr>
        <p:txBody>
          <a:bodyPr wrap="square" rtlCol="0">
            <a:spAutoFit/>
          </a:bodyPr>
          <a:lstStyle/>
          <a:p>
            <a:pPr algn="just">
              <a:spcAft>
                <a:spcPts val="1200"/>
              </a:spcAft>
            </a:pPr>
            <a:r>
              <a:rPr lang="en-US" sz="2400" dirty="0"/>
              <a:t>Stemming from the success of the deforestation detection with Attention U-Net, we push our focus to oil spill segmentation, a task equally critical given that: </a:t>
            </a:r>
          </a:p>
          <a:p>
            <a:pPr marL="514350" indent="-514350" algn="just">
              <a:spcAft>
                <a:spcPts val="600"/>
              </a:spcAft>
              <a:buFont typeface="+mj-lt"/>
              <a:buAutoNum type="arabicPeriod"/>
            </a:pPr>
            <a:r>
              <a:rPr lang="en-US" sz="2400" u="sng" dirty="0"/>
              <a:t>Ocean life is critical to humanity</a:t>
            </a:r>
            <a:r>
              <a:rPr lang="en-US" sz="2400" dirty="0"/>
              <a:t>, based on UN’s Food and Agriculture Organization report: </a:t>
            </a:r>
          </a:p>
          <a:p>
            <a:pPr marL="971550" lvl="1" indent="-514350" algn="just">
              <a:spcAft>
                <a:spcPts val="300"/>
              </a:spcAft>
              <a:buFont typeface="+mj-lt"/>
              <a:buAutoNum type="arabicPeriod"/>
            </a:pPr>
            <a:r>
              <a:rPr lang="en-US" sz="2400" dirty="0"/>
              <a:t>Supports the livelihood of more than 3 billion people</a:t>
            </a:r>
          </a:p>
          <a:p>
            <a:pPr marL="971550" lvl="1" indent="-514350" algn="just">
              <a:spcAft>
                <a:spcPts val="300"/>
              </a:spcAft>
              <a:buFont typeface="+mj-lt"/>
              <a:buAutoNum type="arabicPeriod"/>
            </a:pPr>
            <a:r>
              <a:rPr lang="en-US" sz="2400" dirty="0"/>
              <a:t>Produces 50% of earth’s O2</a:t>
            </a:r>
          </a:p>
          <a:p>
            <a:pPr marL="971550" lvl="1" indent="-514350" algn="just">
              <a:spcAft>
                <a:spcPts val="300"/>
              </a:spcAft>
              <a:buFont typeface="+mj-lt"/>
              <a:buAutoNum type="arabicPeriod"/>
            </a:pPr>
            <a:r>
              <a:rPr lang="en-US" sz="2400" dirty="0"/>
              <a:t>Absorbs 30% of earth’s CO2</a:t>
            </a:r>
          </a:p>
          <a:p>
            <a:pPr marL="514350" indent="-514350" algn="just">
              <a:spcAft>
                <a:spcPts val="1200"/>
              </a:spcAft>
              <a:buFont typeface="+mj-lt"/>
              <a:buAutoNum type="arabicPeriod"/>
            </a:pPr>
            <a:r>
              <a:rPr lang="en-US" sz="2400" u="sng" dirty="0"/>
              <a:t>Oil spills severely damage the ecosystem </a:t>
            </a:r>
            <a:r>
              <a:rPr lang="en-US" sz="2400" dirty="0"/>
              <a:t>by killing marine life directly, as well as poison their habitats for years, potentially leading to a change in the food chain.</a:t>
            </a:r>
          </a:p>
          <a:p>
            <a:pPr marL="514350" indent="-514350" algn="just">
              <a:spcAft>
                <a:spcPts val="1200"/>
              </a:spcAft>
              <a:buFont typeface="+mj-lt"/>
              <a:buAutoNum type="arabicPeriod"/>
            </a:pPr>
            <a:r>
              <a:rPr lang="en-US" sz="2400" u="sng" dirty="0"/>
              <a:t>The monitoring of oceans is very difficult</a:t>
            </a:r>
            <a:r>
              <a:rPr lang="en-US" sz="2400" dirty="0"/>
              <a:t> given that it encompasses two-thirds of the earth’s surface. With most ocean territory being international waters, it is also extremely hard to enforce laws over oil spills.</a:t>
            </a:r>
          </a:p>
          <a:p>
            <a:pPr algn="just">
              <a:spcAft>
                <a:spcPts val="1200"/>
              </a:spcAft>
            </a:pPr>
            <a:r>
              <a:rPr lang="en-US" sz="2400" dirty="0"/>
              <a:t>These challenges point to the need for </a:t>
            </a:r>
            <a:r>
              <a:rPr lang="en-US" sz="2400" u="sng" dirty="0"/>
              <a:t>automated ocean monitoring</a:t>
            </a:r>
            <a:r>
              <a:rPr lang="en-US" sz="2400" dirty="0"/>
              <a:t>, and Attention U-Net provides a strong solution by being able to focus on subtle patterns while suppressing the many irrelevant background noise of the ocean.</a:t>
            </a:r>
          </a:p>
        </p:txBody>
      </p:sp>
      <p:graphicFrame>
        <p:nvGraphicFramePr>
          <p:cNvPr id="180" name="Table 179">
            <a:extLst>
              <a:ext uri="{FF2B5EF4-FFF2-40B4-BE49-F238E27FC236}">
                <a16:creationId xmlns:a16="http://schemas.microsoft.com/office/drawing/2014/main" id="{470E68B8-E79D-A6B3-1099-E77B8648B868}"/>
              </a:ext>
            </a:extLst>
          </p:cNvPr>
          <p:cNvGraphicFramePr>
            <a:graphicFrameLocks noGrp="1"/>
          </p:cNvGraphicFramePr>
          <p:nvPr>
            <p:extLst>
              <p:ext uri="{D42A27DB-BD31-4B8C-83A1-F6EECF244321}">
                <p14:modId xmlns:p14="http://schemas.microsoft.com/office/powerpoint/2010/main" val="283473697"/>
              </p:ext>
            </p:extLst>
          </p:nvPr>
        </p:nvGraphicFramePr>
        <p:xfrm>
          <a:off x="29762198" y="6698970"/>
          <a:ext cx="5061201" cy="3229145"/>
        </p:xfrm>
        <a:graphic>
          <a:graphicData uri="http://schemas.openxmlformats.org/drawingml/2006/table">
            <a:tbl>
              <a:tblPr>
                <a:tableStyleId>{5C22544A-7EE6-4342-B048-85BDC9FD1C3A}</a:tableStyleId>
              </a:tblPr>
              <a:tblGrid>
                <a:gridCol w="1642325">
                  <a:extLst>
                    <a:ext uri="{9D8B030D-6E8A-4147-A177-3AD203B41FA5}">
                      <a16:colId xmlns:a16="http://schemas.microsoft.com/office/drawing/2014/main" val="4290231343"/>
                    </a:ext>
                  </a:extLst>
                </a:gridCol>
                <a:gridCol w="1151927">
                  <a:extLst>
                    <a:ext uri="{9D8B030D-6E8A-4147-A177-3AD203B41FA5}">
                      <a16:colId xmlns:a16="http://schemas.microsoft.com/office/drawing/2014/main" val="1021907750"/>
                    </a:ext>
                  </a:extLst>
                </a:gridCol>
                <a:gridCol w="2266949">
                  <a:extLst>
                    <a:ext uri="{9D8B030D-6E8A-4147-A177-3AD203B41FA5}">
                      <a16:colId xmlns:a16="http://schemas.microsoft.com/office/drawing/2014/main" val="2351275025"/>
                    </a:ext>
                  </a:extLst>
                </a:gridCol>
              </a:tblGrid>
              <a:tr h="858260">
                <a:tc>
                  <a:txBody>
                    <a:bodyPr/>
                    <a:lstStyle/>
                    <a:p>
                      <a:pPr algn="ctr" fontAlgn="b">
                        <a:buNone/>
                      </a:pPr>
                      <a:r>
                        <a:rPr lang="en-GB" sz="2400" b="1" u="none" strike="noStrike" dirty="0">
                          <a:effectLst/>
                        </a:rPr>
                        <a:t>Metrics</a:t>
                      </a:r>
                      <a:endParaRPr lang="en-GB" sz="24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b="1" u="none" strike="noStrike">
                          <a:effectLst/>
                        </a:rPr>
                        <a:t>BCE</a:t>
                      </a:r>
                      <a:endParaRPr lang="en-GB" sz="2400" b="1"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b="1" u="none" strike="noStrike" dirty="0">
                          <a:effectLst/>
                        </a:rPr>
                        <a:t>Weighted BCE</a:t>
                      </a:r>
                      <a:endParaRPr lang="en-GB" sz="24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9453813"/>
                  </a:ext>
                </a:extLst>
              </a:tr>
              <a:tr h="474177">
                <a:tc>
                  <a:txBody>
                    <a:bodyPr/>
                    <a:lstStyle/>
                    <a:p>
                      <a:pPr algn="ctr" fontAlgn="b">
                        <a:buNone/>
                      </a:pPr>
                      <a:r>
                        <a:rPr lang="en-GB" sz="2400" b="1" u="none" strike="noStrike" dirty="0">
                          <a:effectLst/>
                        </a:rPr>
                        <a:t>Accuracy:</a:t>
                      </a:r>
                      <a:endParaRPr lang="en-GB" sz="24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u="none" strike="noStrike" dirty="0">
                          <a:effectLst/>
                        </a:rPr>
                        <a:t>97.9%</a:t>
                      </a:r>
                      <a:endParaRPr lang="en-GB" sz="24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b="1" u="none" strike="noStrike">
                          <a:solidFill>
                            <a:srgbClr val="00B050"/>
                          </a:solidFill>
                          <a:effectLst/>
                        </a:rPr>
                        <a:t>98.3%</a:t>
                      </a:r>
                      <a:endParaRPr lang="en-GB" sz="2400" b="1" i="0" u="none" strike="noStrike">
                        <a:solidFill>
                          <a:srgbClr val="00B05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9947670"/>
                  </a:ext>
                </a:extLst>
              </a:tr>
              <a:tr h="474177">
                <a:tc>
                  <a:txBody>
                    <a:bodyPr/>
                    <a:lstStyle/>
                    <a:p>
                      <a:pPr algn="ctr" fontAlgn="b">
                        <a:buNone/>
                      </a:pPr>
                      <a:r>
                        <a:rPr lang="en-GB" sz="2400" b="1" u="none" strike="noStrike" dirty="0">
                          <a:effectLst/>
                        </a:rPr>
                        <a:t>Precision:</a:t>
                      </a:r>
                      <a:endParaRPr lang="en-GB" sz="24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u="none" strike="noStrike" dirty="0">
                          <a:effectLst/>
                        </a:rPr>
                        <a:t>87.6%</a:t>
                      </a:r>
                      <a:endParaRPr lang="en-GB" sz="24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b="1" u="none" strike="noStrike" dirty="0">
                          <a:solidFill>
                            <a:schemeClr val="accent6"/>
                          </a:solidFill>
                          <a:effectLst/>
                        </a:rPr>
                        <a:t>74.1%</a:t>
                      </a:r>
                      <a:endParaRPr lang="en-GB" sz="2400" b="1" i="0" u="none" strike="noStrike" dirty="0">
                        <a:solidFill>
                          <a:schemeClr val="accent6"/>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3092206"/>
                  </a:ext>
                </a:extLst>
              </a:tr>
              <a:tr h="474177">
                <a:tc>
                  <a:txBody>
                    <a:bodyPr/>
                    <a:lstStyle/>
                    <a:p>
                      <a:pPr algn="ctr" fontAlgn="b">
                        <a:buNone/>
                      </a:pPr>
                      <a:r>
                        <a:rPr lang="en-GB" sz="2400" b="1" u="none" strike="noStrike">
                          <a:effectLst/>
                        </a:rPr>
                        <a:t>Recall:</a:t>
                      </a:r>
                      <a:endParaRPr lang="en-GB" sz="2400" b="1"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u="none" strike="noStrike" dirty="0">
                          <a:effectLst/>
                        </a:rPr>
                        <a:t>29.1%</a:t>
                      </a:r>
                      <a:endParaRPr lang="en-GB" sz="24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b="1" u="none" strike="noStrike" dirty="0">
                          <a:solidFill>
                            <a:srgbClr val="00B050"/>
                          </a:solidFill>
                          <a:effectLst/>
                        </a:rPr>
                        <a:t>58.8%</a:t>
                      </a:r>
                      <a:endParaRPr lang="en-GB" sz="2400" b="1" i="0" u="none" strike="noStrike" dirty="0">
                        <a:solidFill>
                          <a:srgbClr val="00B05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3861520"/>
                  </a:ext>
                </a:extLst>
              </a:tr>
              <a:tr h="474177">
                <a:tc>
                  <a:txBody>
                    <a:bodyPr/>
                    <a:lstStyle/>
                    <a:p>
                      <a:pPr algn="ctr" fontAlgn="b">
                        <a:buNone/>
                      </a:pPr>
                      <a:r>
                        <a:rPr lang="en-GB" sz="2400" b="1" u="none" strike="noStrike" dirty="0">
                          <a:effectLst/>
                        </a:rPr>
                        <a:t>F1-Score:</a:t>
                      </a:r>
                      <a:endParaRPr lang="en-GB" sz="24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u="none" strike="noStrike">
                          <a:effectLst/>
                        </a:rPr>
                        <a:t>43.7%</a:t>
                      </a:r>
                      <a:endParaRPr lang="en-GB"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b="1" u="none" strike="noStrike" dirty="0">
                          <a:solidFill>
                            <a:srgbClr val="00B050"/>
                          </a:solidFill>
                          <a:effectLst/>
                        </a:rPr>
                        <a:t>65.6%</a:t>
                      </a:r>
                      <a:endParaRPr lang="en-GB" sz="2400" b="1" i="0" u="none" strike="noStrike" dirty="0">
                        <a:solidFill>
                          <a:srgbClr val="00B05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6960220"/>
                  </a:ext>
                </a:extLst>
              </a:tr>
              <a:tr h="474177">
                <a:tc>
                  <a:txBody>
                    <a:bodyPr/>
                    <a:lstStyle/>
                    <a:p>
                      <a:pPr algn="ctr" fontAlgn="b">
                        <a:buNone/>
                      </a:pPr>
                      <a:r>
                        <a:rPr lang="en-GB" sz="2400" b="1" u="none" strike="noStrike" dirty="0" err="1">
                          <a:effectLst/>
                        </a:rPr>
                        <a:t>IoU</a:t>
                      </a:r>
                      <a:r>
                        <a:rPr lang="en-GB" sz="2400" b="1" u="none" strike="noStrike" dirty="0">
                          <a:effectLst/>
                        </a:rPr>
                        <a:t>:</a:t>
                      </a:r>
                      <a:endParaRPr lang="en-GB" sz="2400" b="1"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u="none" strike="noStrike">
                          <a:effectLst/>
                        </a:rPr>
                        <a:t>28.0%</a:t>
                      </a:r>
                      <a:endParaRPr lang="en-GB"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GB" sz="2400" b="1" u="none" strike="noStrike" dirty="0">
                          <a:solidFill>
                            <a:srgbClr val="00B050"/>
                          </a:solidFill>
                          <a:effectLst/>
                        </a:rPr>
                        <a:t>48.8%</a:t>
                      </a:r>
                      <a:endParaRPr lang="en-GB" sz="2400" b="1" i="0" u="none" strike="noStrike" dirty="0">
                        <a:solidFill>
                          <a:srgbClr val="00B05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7409581"/>
                  </a:ext>
                </a:extLst>
              </a:tr>
            </a:tbl>
          </a:graphicData>
        </a:graphic>
      </p:graphicFrame>
      <p:graphicFrame>
        <p:nvGraphicFramePr>
          <p:cNvPr id="181" name="Diagram 180">
            <a:extLst>
              <a:ext uri="{FF2B5EF4-FFF2-40B4-BE49-F238E27FC236}">
                <a16:creationId xmlns:a16="http://schemas.microsoft.com/office/drawing/2014/main" id="{85B6E83A-76E1-AED6-5733-76025E458E1A}"/>
              </a:ext>
            </a:extLst>
          </p:cNvPr>
          <p:cNvGraphicFramePr/>
          <p:nvPr>
            <p:extLst>
              <p:ext uri="{D42A27DB-BD31-4B8C-83A1-F6EECF244321}">
                <p14:modId xmlns:p14="http://schemas.microsoft.com/office/powerpoint/2010/main" val="3138699621"/>
              </p:ext>
            </p:extLst>
          </p:nvPr>
        </p:nvGraphicFramePr>
        <p:xfrm>
          <a:off x="14690181" y="11274591"/>
          <a:ext cx="13455148" cy="3611400"/>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
        <p:nvSpPr>
          <p:cNvPr id="183" name="TextBox 182">
            <a:extLst>
              <a:ext uri="{FF2B5EF4-FFF2-40B4-BE49-F238E27FC236}">
                <a16:creationId xmlns:a16="http://schemas.microsoft.com/office/drawing/2014/main" id="{3EBE50E4-DDEF-9F2E-E28E-9438043F3886}"/>
              </a:ext>
            </a:extLst>
          </p:cNvPr>
          <p:cNvSpPr txBox="1"/>
          <p:nvPr/>
        </p:nvSpPr>
        <p:spPr>
          <a:xfrm>
            <a:off x="15321746" y="13606374"/>
            <a:ext cx="11724676" cy="338554"/>
          </a:xfrm>
          <a:prstGeom prst="rect">
            <a:avLst/>
          </a:prstGeom>
          <a:noFill/>
        </p:spPr>
        <p:txBody>
          <a:bodyPr wrap="square">
            <a:spAutoFit/>
          </a:bodyPr>
          <a:lstStyle/>
          <a:p>
            <a:pPr algn="ctr"/>
            <a:r>
              <a:rPr lang="en-US" sz="1600" dirty="0"/>
              <a:t>Figure 2 : Sentinel-1 GRD Image Processing Pipeline with SNAP</a:t>
            </a:r>
            <a:endParaRPr lang="en-GB" sz="1600" dirty="0"/>
          </a:p>
        </p:txBody>
      </p:sp>
    </p:spTree>
    <p:extLst>
      <p:ext uri="{BB962C8B-B14F-4D97-AF65-F5344CB8AC3E}">
        <p14:creationId xmlns:p14="http://schemas.microsoft.com/office/powerpoint/2010/main" val="3552670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descr="A red sign with white people and text&#10;&#10;AI-generated content may be incorrect.">
            <a:extLst>
              <a:ext uri="{FF2B5EF4-FFF2-40B4-BE49-F238E27FC236}">
                <a16:creationId xmlns:a16="http://schemas.microsoft.com/office/drawing/2014/main" id="{8B5C3A5B-28CD-1956-AFD2-6BF8A80C3F1A}"/>
              </a:ext>
            </a:extLst>
          </p:cNvPr>
          <p:cNvPicPr>
            <a:picLocks noChangeAspect="1"/>
          </p:cNvPicPr>
          <p:nvPr/>
        </p:nvPicPr>
        <p:blipFill>
          <a:blip r:embed="rId2"/>
          <a:stretch>
            <a:fillRect/>
          </a:stretch>
        </p:blipFill>
        <p:spPr>
          <a:xfrm>
            <a:off x="6438264" y="9549650"/>
            <a:ext cx="4836905" cy="4836905"/>
          </a:xfrm>
          <a:prstGeom prst="rect">
            <a:avLst/>
          </a:prstGeom>
        </p:spPr>
      </p:pic>
      <p:pic>
        <p:nvPicPr>
          <p:cNvPr id="11" name="Picture 10" descr="A white bowl with steam and text&#10;&#10;AI-generated content may be incorrect.">
            <a:extLst>
              <a:ext uri="{FF2B5EF4-FFF2-40B4-BE49-F238E27FC236}">
                <a16:creationId xmlns:a16="http://schemas.microsoft.com/office/drawing/2014/main" id="{CAF45C42-00C6-CAEB-F172-0B7BA785ACBC}"/>
              </a:ext>
            </a:extLst>
          </p:cNvPr>
          <p:cNvPicPr>
            <a:picLocks noChangeAspect="1"/>
          </p:cNvPicPr>
          <p:nvPr/>
        </p:nvPicPr>
        <p:blipFill>
          <a:blip r:embed="rId3"/>
          <a:stretch>
            <a:fillRect/>
          </a:stretch>
        </p:blipFill>
        <p:spPr>
          <a:xfrm>
            <a:off x="9049011" y="3411418"/>
            <a:ext cx="4836905" cy="4836905"/>
          </a:xfrm>
          <a:prstGeom prst="rect">
            <a:avLst/>
          </a:prstGeom>
        </p:spPr>
      </p:pic>
      <p:pic>
        <p:nvPicPr>
          <p:cNvPr id="13" name="Picture 12" descr="A green square with white text and a heart and pulse&#10;&#10;AI-generated content may be incorrect.">
            <a:extLst>
              <a:ext uri="{FF2B5EF4-FFF2-40B4-BE49-F238E27FC236}">
                <a16:creationId xmlns:a16="http://schemas.microsoft.com/office/drawing/2014/main" id="{F2EA19C7-916A-163A-A040-69F5CCD477C3}"/>
              </a:ext>
            </a:extLst>
          </p:cNvPr>
          <p:cNvPicPr>
            <a:picLocks noChangeAspect="1"/>
          </p:cNvPicPr>
          <p:nvPr/>
        </p:nvPicPr>
        <p:blipFill>
          <a:blip r:embed="rId4"/>
          <a:stretch>
            <a:fillRect/>
          </a:stretch>
        </p:blipFill>
        <p:spPr>
          <a:xfrm>
            <a:off x="13268526" y="15872083"/>
            <a:ext cx="4836905" cy="4836905"/>
          </a:xfrm>
          <a:prstGeom prst="rect">
            <a:avLst/>
          </a:prstGeom>
        </p:spPr>
      </p:pic>
      <p:pic>
        <p:nvPicPr>
          <p:cNvPr id="15" name="Picture 14" descr="A red sign with a book and a pencil&#10;&#10;AI-generated content may be incorrect.">
            <a:extLst>
              <a:ext uri="{FF2B5EF4-FFF2-40B4-BE49-F238E27FC236}">
                <a16:creationId xmlns:a16="http://schemas.microsoft.com/office/drawing/2014/main" id="{8FB17645-4E79-E72E-07FE-46759F42AA5C}"/>
              </a:ext>
            </a:extLst>
          </p:cNvPr>
          <p:cNvPicPr>
            <a:picLocks noChangeAspect="1"/>
          </p:cNvPicPr>
          <p:nvPr/>
        </p:nvPicPr>
        <p:blipFill>
          <a:blip r:embed="rId5"/>
          <a:stretch>
            <a:fillRect/>
          </a:stretch>
        </p:blipFill>
        <p:spPr>
          <a:xfrm>
            <a:off x="37963683" y="13453631"/>
            <a:ext cx="4836905" cy="4836905"/>
          </a:xfrm>
          <a:prstGeom prst="rect">
            <a:avLst/>
          </a:prstGeom>
        </p:spPr>
      </p:pic>
      <p:pic>
        <p:nvPicPr>
          <p:cNvPr id="17" name="Picture 16" descr="A red sign with white text and symbols&#10;&#10;AI-generated content may be incorrect.">
            <a:extLst>
              <a:ext uri="{FF2B5EF4-FFF2-40B4-BE49-F238E27FC236}">
                <a16:creationId xmlns:a16="http://schemas.microsoft.com/office/drawing/2014/main" id="{57E925A8-7EFF-FD93-0496-240C49CFF8CB}"/>
              </a:ext>
            </a:extLst>
          </p:cNvPr>
          <p:cNvPicPr>
            <a:picLocks noChangeAspect="1"/>
          </p:cNvPicPr>
          <p:nvPr/>
        </p:nvPicPr>
        <p:blipFill>
          <a:blip r:embed="rId6"/>
          <a:stretch>
            <a:fillRect/>
          </a:stretch>
        </p:blipFill>
        <p:spPr>
          <a:xfrm>
            <a:off x="7973628" y="22026890"/>
            <a:ext cx="4836905" cy="4836905"/>
          </a:xfrm>
          <a:prstGeom prst="rect">
            <a:avLst/>
          </a:prstGeom>
        </p:spPr>
      </p:pic>
      <p:pic>
        <p:nvPicPr>
          <p:cNvPr id="19" name="Picture 18" descr="A blue background with a white sign and a drop of water&#10;&#10;AI-generated content may be incorrect.">
            <a:extLst>
              <a:ext uri="{FF2B5EF4-FFF2-40B4-BE49-F238E27FC236}">
                <a16:creationId xmlns:a16="http://schemas.microsoft.com/office/drawing/2014/main" id="{DE3A6BD7-DFB6-EBD2-777B-B35023A43C56}"/>
              </a:ext>
            </a:extLst>
          </p:cNvPr>
          <p:cNvPicPr>
            <a:picLocks noChangeAspect="1"/>
          </p:cNvPicPr>
          <p:nvPr/>
        </p:nvPicPr>
        <p:blipFill>
          <a:blip r:embed="rId7"/>
          <a:stretch>
            <a:fillRect/>
          </a:stretch>
        </p:blipFill>
        <p:spPr>
          <a:xfrm>
            <a:off x="23413488" y="6946996"/>
            <a:ext cx="4836905" cy="4836905"/>
          </a:xfrm>
          <a:prstGeom prst="rect">
            <a:avLst/>
          </a:prstGeom>
        </p:spPr>
      </p:pic>
      <p:pic>
        <p:nvPicPr>
          <p:cNvPr id="21" name="Picture 20" descr="A yellow sign with a light and text&#10;&#10;AI-generated content may be incorrect.">
            <a:extLst>
              <a:ext uri="{FF2B5EF4-FFF2-40B4-BE49-F238E27FC236}">
                <a16:creationId xmlns:a16="http://schemas.microsoft.com/office/drawing/2014/main" id="{2FFDCD95-4C79-6ED5-4196-F197AD5B63B4}"/>
              </a:ext>
            </a:extLst>
          </p:cNvPr>
          <p:cNvPicPr>
            <a:picLocks noChangeAspect="1"/>
          </p:cNvPicPr>
          <p:nvPr/>
        </p:nvPicPr>
        <p:blipFill>
          <a:blip r:embed="rId8"/>
          <a:stretch>
            <a:fillRect/>
          </a:stretch>
        </p:blipFill>
        <p:spPr>
          <a:xfrm>
            <a:off x="877668" y="9197820"/>
            <a:ext cx="4836905" cy="4836905"/>
          </a:xfrm>
          <a:prstGeom prst="rect">
            <a:avLst/>
          </a:prstGeom>
        </p:spPr>
      </p:pic>
      <p:pic>
        <p:nvPicPr>
          <p:cNvPr id="25" name="Picture 24" descr="A logo on an orange background&#10;&#10;AI-generated content may be incorrect.">
            <a:extLst>
              <a:ext uri="{FF2B5EF4-FFF2-40B4-BE49-F238E27FC236}">
                <a16:creationId xmlns:a16="http://schemas.microsoft.com/office/drawing/2014/main" id="{12E8C7C7-90B2-1E9B-B766-C530409A13D6}"/>
              </a:ext>
            </a:extLst>
          </p:cNvPr>
          <p:cNvPicPr>
            <a:picLocks noChangeAspect="1"/>
          </p:cNvPicPr>
          <p:nvPr/>
        </p:nvPicPr>
        <p:blipFill>
          <a:blip r:embed="rId9"/>
          <a:stretch>
            <a:fillRect/>
          </a:stretch>
        </p:blipFill>
        <p:spPr>
          <a:xfrm>
            <a:off x="25991961" y="22026889"/>
            <a:ext cx="4836905" cy="4836905"/>
          </a:xfrm>
          <a:prstGeom prst="rect">
            <a:avLst/>
          </a:prstGeom>
        </p:spPr>
      </p:pic>
      <p:pic>
        <p:nvPicPr>
          <p:cNvPr id="27" name="Picture 26" descr="A pink background with white text and white arrows&#10;&#10;AI-generated content may be incorrect.">
            <a:extLst>
              <a:ext uri="{FF2B5EF4-FFF2-40B4-BE49-F238E27FC236}">
                <a16:creationId xmlns:a16="http://schemas.microsoft.com/office/drawing/2014/main" id="{79C91CB6-14A0-9D15-D053-AAE3D6BAED60}"/>
              </a:ext>
            </a:extLst>
          </p:cNvPr>
          <p:cNvPicPr>
            <a:picLocks noChangeAspect="1"/>
          </p:cNvPicPr>
          <p:nvPr/>
        </p:nvPicPr>
        <p:blipFill>
          <a:blip r:embed="rId10"/>
          <a:stretch>
            <a:fillRect/>
          </a:stretch>
        </p:blipFill>
        <p:spPr>
          <a:xfrm>
            <a:off x="29511425" y="7131197"/>
            <a:ext cx="4836905" cy="4836905"/>
          </a:xfrm>
          <a:prstGeom prst="rect">
            <a:avLst/>
          </a:prstGeom>
        </p:spPr>
      </p:pic>
      <p:pic>
        <p:nvPicPr>
          <p:cNvPr id="29" name="Picture 28" descr="A white and orange sign with buildings and text&#10;&#10;AI-generated content may be incorrect.">
            <a:extLst>
              <a:ext uri="{FF2B5EF4-FFF2-40B4-BE49-F238E27FC236}">
                <a16:creationId xmlns:a16="http://schemas.microsoft.com/office/drawing/2014/main" id="{C36BF69F-5AEE-02BB-B705-B203AE517E30}"/>
              </a:ext>
            </a:extLst>
          </p:cNvPr>
          <p:cNvPicPr>
            <a:picLocks noChangeAspect="1"/>
          </p:cNvPicPr>
          <p:nvPr/>
        </p:nvPicPr>
        <p:blipFill>
          <a:blip r:embed="rId11"/>
          <a:stretch>
            <a:fillRect/>
          </a:stretch>
        </p:blipFill>
        <p:spPr>
          <a:xfrm>
            <a:off x="12145578" y="9472224"/>
            <a:ext cx="4836905" cy="4836905"/>
          </a:xfrm>
          <a:prstGeom prst="rect">
            <a:avLst/>
          </a:prstGeom>
        </p:spPr>
      </p:pic>
      <p:pic>
        <p:nvPicPr>
          <p:cNvPr id="31" name="Picture 30" descr="A yellow sign with white text&#10;&#10;AI-generated content may be incorrect.">
            <a:extLst>
              <a:ext uri="{FF2B5EF4-FFF2-40B4-BE49-F238E27FC236}">
                <a16:creationId xmlns:a16="http://schemas.microsoft.com/office/drawing/2014/main" id="{4F95F638-66DB-BD27-7F9E-58B32337B878}"/>
              </a:ext>
            </a:extLst>
          </p:cNvPr>
          <p:cNvPicPr>
            <a:picLocks noChangeAspect="1"/>
          </p:cNvPicPr>
          <p:nvPr/>
        </p:nvPicPr>
        <p:blipFill>
          <a:blip r:embed="rId12"/>
          <a:stretch>
            <a:fillRect/>
          </a:stretch>
        </p:blipFill>
        <p:spPr>
          <a:xfrm>
            <a:off x="17234707" y="3208952"/>
            <a:ext cx="4836905" cy="4836905"/>
          </a:xfrm>
          <a:prstGeom prst="rect">
            <a:avLst/>
          </a:prstGeom>
        </p:spPr>
      </p:pic>
      <p:pic>
        <p:nvPicPr>
          <p:cNvPr id="33" name="Picture 32" descr="A green and white sign with a planet earth in the middle&#10;&#10;AI-generated content may be incorrect.">
            <a:extLst>
              <a:ext uri="{FF2B5EF4-FFF2-40B4-BE49-F238E27FC236}">
                <a16:creationId xmlns:a16="http://schemas.microsoft.com/office/drawing/2014/main" id="{83519D10-5AB2-0861-A1BF-5E3EDCF784C6}"/>
              </a:ext>
            </a:extLst>
          </p:cNvPr>
          <p:cNvPicPr>
            <a:picLocks noChangeAspect="1"/>
          </p:cNvPicPr>
          <p:nvPr/>
        </p:nvPicPr>
        <p:blipFill>
          <a:blip r:embed="rId13"/>
          <a:stretch>
            <a:fillRect/>
          </a:stretch>
        </p:blipFill>
        <p:spPr>
          <a:xfrm>
            <a:off x="1588200" y="18658939"/>
            <a:ext cx="4836905" cy="4836905"/>
          </a:xfrm>
          <a:prstGeom prst="rect">
            <a:avLst/>
          </a:prstGeom>
        </p:spPr>
      </p:pic>
      <p:pic>
        <p:nvPicPr>
          <p:cNvPr id="35" name="Picture 34" descr="A blue sign with white text and a fish and waves&#10;&#10;AI-generated content may be incorrect.">
            <a:extLst>
              <a:ext uri="{FF2B5EF4-FFF2-40B4-BE49-F238E27FC236}">
                <a16:creationId xmlns:a16="http://schemas.microsoft.com/office/drawing/2014/main" id="{AE6814EB-366B-5F93-85D0-36FF57CBE912}"/>
              </a:ext>
            </a:extLst>
          </p:cNvPr>
          <p:cNvPicPr>
            <a:picLocks noChangeAspect="1"/>
          </p:cNvPicPr>
          <p:nvPr/>
        </p:nvPicPr>
        <p:blipFill>
          <a:blip r:embed="rId14"/>
          <a:stretch>
            <a:fillRect/>
          </a:stretch>
        </p:blipFill>
        <p:spPr>
          <a:xfrm>
            <a:off x="17971728" y="21261594"/>
            <a:ext cx="4836905" cy="4836905"/>
          </a:xfrm>
          <a:prstGeom prst="rect">
            <a:avLst/>
          </a:prstGeom>
        </p:spPr>
      </p:pic>
      <p:pic>
        <p:nvPicPr>
          <p:cNvPr id="37" name="Picture 36" descr="A green sign with white text and a tree and birds&#10;&#10;AI-generated content may be incorrect.">
            <a:extLst>
              <a:ext uri="{FF2B5EF4-FFF2-40B4-BE49-F238E27FC236}">
                <a16:creationId xmlns:a16="http://schemas.microsoft.com/office/drawing/2014/main" id="{494B2697-6E75-A901-F943-AC79C1209A76}"/>
              </a:ext>
            </a:extLst>
          </p:cNvPr>
          <p:cNvPicPr>
            <a:picLocks noChangeAspect="1"/>
          </p:cNvPicPr>
          <p:nvPr/>
        </p:nvPicPr>
        <p:blipFill>
          <a:blip r:embed="rId15"/>
          <a:stretch>
            <a:fillRect/>
          </a:stretch>
        </p:blipFill>
        <p:spPr>
          <a:xfrm>
            <a:off x="35538648" y="8248323"/>
            <a:ext cx="4836905" cy="4836905"/>
          </a:xfrm>
          <a:prstGeom prst="rect">
            <a:avLst/>
          </a:prstGeom>
        </p:spPr>
      </p:pic>
      <p:pic>
        <p:nvPicPr>
          <p:cNvPr id="39" name="Picture 38" descr="A bird with a branch on a mallet&#10;&#10;AI-generated content may be incorrect.">
            <a:extLst>
              <a:ext uri="{FF2B5EF4-FFF2-40B4-BE49-F238E27FC236}">
                <a16:creationId xmlns:a16="http://schemas.microsoft.com/office/drawing/2014/main" id="{97295610-1AD2-885A-7A1D-FEF96C06BADE}"/>
              </a:ext>
            </a:extLst>
          </p:cNvPr>
          <p:cNvPicPr>
            <a:picLocks noChangeAspect="1"/>
          </p:cNvPicPr>
          <p:nvPr/>
        </p:nvPicPr>
        <p:blipFill>
          <a:blip r:embed="rId16"/>
          <a:stretch>
            <a:fillRect/>
          </a:stretch>
        </p:blipFill>
        <p:spPr>
          <a:xfrm>
            <a:off x="33113616" y="21261595"/>
            <a:ext cx="4836905" cy="4836905"/>
          </a:xfrm>
          <a:prstGeom prst="rect">
            <a:avLst/>
          </a:prstGeom>
        </p:spPr>
      </p:pic>
      <p:pic>
        <p:nvPicPr>
          <p:cNvPr id="41" name="Picture 40" descr="A blue background with white text and a logo&#10;&#10;AI-generated content may be incorrect.">
            <a:extLst>
              <a:ext uri="{FF2B5EF4-FFF2-40B4-BE49-F238E27FC236}">
                <a16:creationId xmlns:a16="http://schemas.microsoft.com/office/drawing/2014/main" id="{03425C00-9C66-0EAA-3FE6-8857CF5CB1F4}"/>
              </a:ext>
            </a:extLst>
          </p:cNvPr>
          <p:cNvPicPr>
            <a:picLocks noChangeAspect="1"/>
          </p:cNvPicPr>
          <p:nvPr/>
        </p:nvPicPr>
        <p:blipFill>
          <a:blip r:embed="rId17"/>
          <a:stretch>
            <a:fillRect/>
          </a:stretch>
        </p:blipFill>
        <p:spPr>
          <a:xfrm>
            <a:off x="28410413" y="15872083"/>
            <a:ext cx="4836905" cy="4836905"/>
          </a:xfrm>
          <a:prstGeom prst="rect">
            <a:avLst/>
          </a:prstGeom>
        </p:spPr>
      </p:pic>
      <p:pic>
        <p:nvPicPr>
          <p:cNvPr id="44" name="Picture 43">
            <a:extLst>
              <a:ext uri="{FF2B5EF4-FFF2-40B4-BE49-F238E27FC236}">
                <a16:creationId xmlns:a16="http://schemas.microsoft.com/office/drawing/2014/main" id="{012EF4C8-CE19-7877-4BF9-1FC67AB085CF}"/>
              </a:ext>
            </a:extLst>
          </p:cNvPr>
          <p:cNvPicPr>
            <a:picLocks noChangeAspect="1"/>
          </p:cNvPicPr>
          <p:nvPr/>
        </p:nvPicPr>
        <p:blipFill>
          <a:blip r:embed="rId18"/>
          <a:srcRect/>
          <a:stretch/>
        </p:blipFill>
        <p:spPr>
          <a:xfrm>
            <a:off x="21580151" y="14309129"/>
            <a:ext cx="4836905" cy="4836905"/>
          </a:xfrm>
          <a:prstGeom prst="rect">
            <a:avLst/>
          </a:prstGeom>
        </p:spPr>
      </p:pic>
    </p:spTree>
    <p:extLst>
      <p:ext uri="{BB962C8B-B14F-4D97-AF65-F5344CB8AC3E}">
        <p14:creationId xmlns:p14="http://schemas.microsoft.com/office/powerpoint/2010/main" val="581835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81F8-6B0E-9A64-4616-51FCDC537447}"/>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ECC4D65A-C980-BDE6-BC4F-25C38824DB48}"/>
              </a:ext>
            </a:extLst>
          </p:cNvPr>
          <p:cNvSpPr>
            <a:spLocks noGrp="1"/>
          </p:cNvSpPr>
          <p:nvPr>
            <p:ph type="body" sz="quarter" idx="10"/>
          </p:nvPr>
        </p:nvSpPr>
        <p:spPr/>
        <p:txBody>
          <a:bodyPr/>
          <a:lstStyle/>
          <a:p>
            <a:endParaRPr lang="en-GB"/>
          </a:p>
        </p:txBody>
      </p:sp>
      <p:sp>
        <p:nvSpPr>
          <p:cNvPr id="4" name="Text Placeholder 3">
            <a:extLst>
              <a:ext uri="{FF2B5EF4-FFF2-40B4-BE49-F238E27FC236}">
                <a16:creationId xmlns:a16="http://schemas.microsoft.com/office/drawing/2014/main" id="{5A83F313-B4A7-DC57-DADC-712FCEB5185B}"/>
              </a:ext>
            </a:extLst>
          </p:cNvPr>
          <p:cNvSpPr>
            <a:spLocks noGrp="1"/>
          </p:cNvSpPr>
          <p:nvPr>
            <p:ph type="body" sz="quarter" idx="11"/>
          </p:nvPr>
        </p:nvSpPr>
        <p:spPr/>
        <p:txBody>
          <a:bodyPr/>
          <a:lstStyle/>
          <a:p>
            <a:endParaRPr lang="en-GB"/>
          </a:p>
        </p:txBody>
      </p:sp>
      <p:sp>
        <p:nvSpPr>
          <p:cNvPr id="5" name="Text Placeholder 4">
            <a:extLst>
              <a:ext uri="{FF2B5EF4-FFF2-40B4-BE49-F238E27FC236}">
                <a16:creationId xmlns:a16="http://schemas.microsoft.com/office/drawing/2014/main" id="{DE94E59E-C295-F5C8-22FC-202F3EB44166}"/>
              </a:ext>
            </a:extLst>
          </p:cNvPr>
          <p:cNvSpPr>
            <a:spLocks noGrp="1"/>
          </p:cNvSpPr>
          <p:nvPr>
            <p:ph type="body" sz="quarter" idx="14"/>
          </p:nvPr>
        </p:nvSpPr>
        <p:spPr/>
        <p:txBody>
          <a:bodyPr/>
          <a:lstStyle/>
          <a:p>
            <a:endParaRPr lang="en-GB"/>
          </a:p>
        </p:txBody>
      </p:sp>
      <p:sp>
        <p:nvSpPr>
          <p:cNvPr id="6" name="Text Placeholder 5">
            <a:extLst>
              <a:ext uri="{FF2B5EF4-FFF2-40B4-BE49-F238E27FC236}">
                <a16:creationId xmlns:a16="http://schemas.microsoft.com/office/drawing/2014/main" id="{8D562F7C-292C-D504-D139-62D68E882054}"/>
              </a:ext>
            </a:extLst>
          </p:cNvPr>
          <p:cNvSpPr>
            <a:spLocks noGrp="1"/>
          </p:cNvSpPr>
          <p:nvPr>
            <p:ph type="body" sz="quarter" idx="13"/>
          </p:nvPr>
        </p:nvSpPr>
        <p:spPr/>
        <p:txBody>
          <a:bodyPr/>
          <a:lstStyle/>
          <a:p>
            <a:endParaRPr lang="en-GB"/>
          </a:p>
        </p:txBody>
      </p:sp>
      <p:sp>
        <p:nvSpPr>
          <p:cNvPr id="7" name="Text Placeholder 6">
            <a:extLst>
              <a:ext uri="{FF2B5EF4-FFF2-40B4-BE49-F238E27FC236}">
                <a16:creationId xmlns:a16="http://schemas.microsoft.com/office/drawing/2014/main" id="{05B799E9-59B3-6FF8-8528-D354DBA2B5D1}"/>
              </a:ext>
            </a:extLst>
          </p:cNvPr>
          <p:cNvSpPr>
            <a:spLocks noGrp="1"/>
          </p:cNvSpPr>
          <p:nvPr>
            <p:ph type="body" sz="quarter" idx="12"/>
          </p:nvPr>
        </p:nvSpPr>
        <p:spPr/>
        <p:txBody>
          <a:bodyPr/>
          <a:lstStyle/>
          <a:p>
            <a:endParaRPr lang="en-GB"/>
          </a:p>
        </p:txBody>
      </p:sp>
      <p:grpSp>
        <p:nvGrpSpPr>
          <p:cNvPr id="8" name="Group 7">
            <a:extLst>
              <a:ext uri="{FF2B5EF4-FFF2-40B4-BE49-F238E27FC236}">
                <a16:creationId xmlns:a16="http://schemas.microsoft.com/office/drawing/2014/main" id="{D6114896-5EEE-7759-56A9-A738ACA339D4}"/>
              </a:ext>
            </a:extLst>
          </p:cNvPr>
          <p:cNvGrpSpPr/>
          <p:nvPr/>
        </p:nvGrpSpPr>
        <p:grpSpPr>
          <a:xfrm>
            <a:off x="5137619" y="9035239"/>
            <a:ext cx="5369294" cy="6289845"/>
            <a:chOff x="6908583" y="10182054"/>
            <a:chExt cx="5369294" cy="6289845"/>
          </a:xfrm>
        </p:grpSpPr>
        <p:grpSp>
          <p:nvGrpSpPr>
            <p:cNvPr id="9" name="Group 8">
              <a:extLst>
                <a:ext uri="{FF2B5EF4-FFF2-40B4-BE49-F238E27FC236}">
                  <a16:creationId xmlns:a16="http://schemas.microsoft.com/office/drawing/2014/main" id="{7308FB59-AE83-7636-50EB-D2FB435EAE6A}"/>
                </a:ext>
              </a:extLst>
            </p:cNvPr>
            <p:cNvGrpSpPr/>
            <p:nvPr/>
          </p:nvGrpSpPr>
          <p:grpSpPr>
            <a:xfrm>
              <a:off x="6908583" y="10182054"/>
              <a:ext cx="5369294" cy="6289845"/>
              <a:chOff x="7191375" y="8650258"/>
              <a:chExt cx="17427440" cy="6289845"/>
            </a:xfrm>
          </p:grpSpPr>
          <p:sp>
            <p:nvSpPr>
              <p:cNvPr id="14" name="Rectangle 13">
                <a:extLst>
                  <a:ext uri="{FF2B5EF4-FFF2-40B4-BE49-F238E27FC236}">
                    <a16:creationId xmlns:a16="http://schemas.microsoft.com/office/drawing/2014/main" id="{82CEFF5C-1AEF-76D9-305E-700E92A873E3}"/>
                  </a:ext>
                </a:extLst>
              </p:cNvPr>
              <p:cNvSpPr/>
              <p:nvPr/>
            </p:nvSpPr>
            <p:spPr>
              <a:xfrm>
                <a:off x="7191375" y="8650258"/>
                <a:ext cx="17390483" cy="628984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DE29DEB1-104E-0F9C-890D-9B20961EB258}"/>
                  </a:ext>
                </a:extLst>
              </p:cNvPr>
              <p:cNvSpPr txBox="1"/>
              <p:nvPr/>
            </p:nvSpPr>
            <p:spPr>
              <a:xfrm>
                <a:off x="7233989" y="8650259"/>
                <a:ext cx="17384826" cy="338554"/>
              </a:xfrm>
              <a:prstGeom prst="rect">
                <a:avLst/>
              </a:prstGeom>
              <a:noFill/>
            </p:spPr>
            <p:txBody>
              <a:bodyPr wrap="square">
                <a:spAutoFit/>
              </a:bodyPr>
              <a:lstStyle/>
              <a:p>
                <a:pPr algn="ctr"/>
                <a:r>
                  <a:rPr lang="en-US" sz="1600" u="sng" dirty="0"/>
                  <a:t>Relevant SDGs</a:t>
                </a:r>
                <a:endParaRPr lang="en-GB" sz="1600" u="sng" dirty="0"/>
              </a:p>
            </p:txBody>
          </p:sp>
        </p:grpSp>
        <p:pic>
          <p:nvPicPr>
            <p:cNvPr id="10" name="Picture 9" descr="A logo on an orange background&#10;&#10;AI-generated content may be incorrect.">
              <a:extLst>
                <a:ext uri="{FF2B5EF4-FFF2-40B4-BE49-F238E27FC236}">
                  <a16:creationId xmlns:a16="http://schemas.microsoft.com/office/drawing/2014/main" id="{AB43C255-4E6C-5B2E-C5D2-05040F521CE6}"/>
                </a:ext>
              </a:extLst>
            </p:cNvPr>
            <p:cNvPicPr>
              <a:picLocks noChangeAspect="1"/>
            </p:cNvPicPr>
            <p:nvPr/>
          </p:nvPicPr>
          <p:blipFill>
            <a:blip r:embed="rId2"/>
            <a:stretch>
              <a:fillRect/>
            </a:stretch>
          </p:blipFill>
          <p:spPr>
            <a:xfrm>
              <a:off x="7077575" y="15056452"/>
              <a:ext cx="1290128" cy="1290128"/>
            </a:xfrm>
            <a:prstGeom prst="rect">
              <a:avLst/>
            </a:prstGeom>
            <a:ln w="57150">
              <a:noFill/>
            </a:ln>
          </p:spPr>
        </p:pic>
        <p:pic>
          <p:nvPicPr>
            <p:cNvPr id="11" name="Picture 10" descr="A yellow sign with white text&#10;&#10;AI-generated content may be incorrect.">
              <a:extLst>
                <a:ext uri="{FF2B5EF4-FFF2-40B4-BE49-F238E27FC236}">
                  <a16:creationId xmlns:a16="http://schemas.microsoft.com/office/drawing/2014/main" id="{A651FCB2-FDBB-E10E-8B5D-0D78FAEE0D25}"/>
                </a:ext>
              </a:extLst>
            </p:cNvPr>
            <p:cNvPicPr>
              <a:picLocks noChangeAspect="1"/>
            </p:cNvPicPr>
            <p:nvPr/>
          </p:nvPicPr>
          <p:blipFill>
            <a:blip r:embed="rId3"/>
            <a:stretch>
              <a:fillRect/>
            </a:stretch>
          </p:blipFill>
          <p:spPr>
            <a:xfrm>
              <a:off x="7077575" y="13578162"/>
              <a:ext cx="1290128" cy="1290128"/>
            </a:xfrm>
            <a:prstGeom prst="rect">
              <a:avLst/>
            </a:prstGeom>
            <a:ln w="57150">
              <a:solidFill>
                <a:srgbClr val="00B050"/>
              </a:solidFill>
            </a:ln>
          </p:spPr>
        </p:pic>
        <p:pic>
          <p:nvPicPr>
            <p:cNvPr id="12" name="Picture 11" descr="A green and white sign with a planet earth in the middle&#10;&#10;AI-generated content may be incorrect.">
              <a:extLst>
                <a:ext uri="{FF2B5EF4-FFF2-40B4-BE49-F238E27FC236}">
                  <a16:creationId xmlns:a16="http://schemas.microsoft.com/office/drawing/2014/main" id="{6D0CF637-D9D4-4109-76D6-A5DA3EA68BF2}"/>
                </a:ext>
              </a:extLst>
            </p:cNvPr>
            <p:cNvPicPr>
              <a:picLocks noChangeAspect="1"/>
            </p:cNvPicPr>
            <p:nvPr/>
          </p:nvPicPr>
          <p:blipFill>
            <a:blip r:embed="rId4"/>
            <a:stretch>
              <a:fillRect/>
            </a:stretch>
          </p:blipFill>
          <p:spPr>
            <a:xfrm>
              <a:off x="7104696" y="12099871"/>
              <a:ext cx="1290128" cy="1290128"/>
            </a:xfrm>
            <a:prstGeom prst="rect">
              <a:avLst/>
            </a:prstGeom>
            <a:ln w="57150">
              <a:solidFill>
                <a:srgbClr val="00B050"/>
              </a:solidFill>
            </a:ln>
          </p:spPr>
        </p:pic>
        <p:pic>
          <p:nvPicPr>
            <p:cNvPr id="13" name="Picture 12" descr="A green sign with white text and a tree and birds&#10;&#10;AI-generated content may be incorrect.">
              <a:extLst>
                <a:ext uri="{FF2B5EF4-FFF2-40B4-BE49-F238E27FC236}">
                  <a16:creationId xmlns:a16="http://schemas.microsoft.com/office/drawing/2014/main" id="{96727B1C-3C97-23B8-8FF1-F1042CCAED2F}"/>
                </a:ext>
              </a:extLst>
            </p:cNvPr>
            <p:cNvPicPr>
              <a:picLocks noChangeAspect="1"/>
            </p:cNvPicPr>
            <p:nvPr/>
          </p:nvPicPr>
          <p:blipFill>
            <a:blip r:embed="rId5"/>
            <a:stretch>
              <a:fillRect/>
            </a:stretch>
          </p:blipFill>
          <p:spPr>
            <a:xfrm>
              <a:off x="7104696" y="10621580"/>
              <a:ext cx="1290128" cy="1290128"/>
            </a:xfrm>
            <a:prstGeom prst="rect">
              <a:avLst/>
            </a:prstGeom>
            <a:ln w="57150">
              <a:solidFill>
                <a:srgbClr val="00B050"/>
              </a:solidFill>
            </a:ln>
          </p:spPr>
        </p:pic>
      </p:grpSp>
      <p:grpSp>
        <p:nvGrpSpPr>
          <p:cNvPr id="16" name="Group 15">
            <a:extLst>
              <a:ext uri="{FF2B5EF4-FFF2-40B4-BE49-F238E27FC236}">
                <a16:creationId xmlns:a16="http://schemas.microsoft.com/office/drawing/2014/main" id="{55C647D7-F84F-1FCE-5FA1-8174291C59CA}"/>
              </a:ext>
            </a:extLst>
          </p:cNvPr>
          <p:cNvGrpSpPr/>
          <p:nvPr/>
        </p:nvGrpSpPr>
        <p:grpSpPr>
          <a:xfrm>
            <a:off x="7126751" y="17806262"/>
            <a:ext cx="5528799" cy="1882740"/>
            <a:chOff x="16790524" y="12620660"/>
            <a:chExt cx="5790076" cy="1882740"/>
          </a:xfrm>
        </p:grpSpPr>
        <p:grpSp>
          <p:nvGrpSpPr>
            <p:cNvPr id="17" name="Group 16">
              <a:extLst>
                <a:ext uri="{FF2B5EF4-FFF2-40B4-BE49-F238E27FC236}">
                  <a16:creationId xmlns:a16="http://schemas.microsoft.com/office/drawing/2014/main" id="{1360C513-21C5-0613-E30B-AE5D99583608}"/>
                </a:ext>
              </a:extLst>
            </p:cNvPr>
            <p:cNvGrpSpPr/>
            <p:nvPr/>
          </p:nvGrpSpPr>
          <p:grpSpPr>
            <a:xfrm>
              <a:off x="16790524" y="12620660"/>
              <a:ext cx="5790076" cy="1882740"/>
              <a:chOff x="7191375" y="8898807"/>
              <a:chExt cx="18793197" cy="1882740"/>
            </a:xfrm>
          </p:grpSpPr>
          <p:sp>
            <p:nvSpPr>
              <p:cNvPr id="22" name="Rectangle 21">
                <a:extLst>
                  <a:ext uri="{FF2B5EF4-FFF2-40B4-BE49-F238E27FC236}">
                    <a16:creationId xmlns:a16="http://schemas.microsoft.com/office/drawing/2014/main" id="{014A3467-7E4E-9659-AF98-6DD36F319BC1}"/>
                  </a:ext>
                </a:extLst>
              </p:cNvPr>
              <p:cNvSpPr/>
              <p:nvPr/>
            </p:nvSpPr>
            <p:spPr>
              <a:xfrm>
                <a:off x="7191375" y="8898807"/>
                <a:ext cx="18793197" cy="18827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3CB510F8-1A41-B5B8-25C2-18533A8AC1E0}"/>
                  </a:ext>
                </a:extLst>
              </p:cNvPr>
              <p:cNvSpPr txBox="1"/>
              <p:nvPr/>
            </p:nvSpPr>
            <p:spPr>
              <a:xfrm>
                <a:off x="7191375" y="8901306"/>
                <a:ext cx="18793197" cy="338554"/>
              </a:xfrm>
              <a:prstGeom prst="rect">
                <a:avLst/>
              </a:prstGeom>
              <a:noFill/>
            </p:spPr>
            <p:txBody>
              <a:bodyPr wrap="square">
                <a:spAutoFit/>
              </a:bodyPr>
              <a:lstStyle/>
              <a:p>
                <a:pPr algn="ctr"/>
                <a:r>
                  <a:rPr lang="en-US" sz="1600" u="sng" dirty="0"/>
                  <a:t>Relevant SDGs</a:t>
                </a:r>
                <a:endParaRPr lang="en-GB" sz="1600" u="sng" dirty="0"/>
              </a:p>
            </p:txBody>
          </p:sp>
        </p:grpSp>
        <p:pic>
          <p:nvPicPr>
            <p:cNvPr id="18" name="Picture 17" descr="A logo on an orange background&#10;&#10;AI-generated content may be incorrect.">
              <a:extLst>
                <a:ext uri="{FF2B5EF4-FFF2-40B4-BE49-F238E27FC236}">
                  <a16:creationId xmlns:a16="http://schemas.microsoft.com/office/drawing/2014/main" id="{ECEB2DF7-9FCC-5B8B-111C-E2D9B2856E43}"/>
                </a:ext>
              </a:extLst>
            </p:cNvPr>
            <p:cNvPicPr>
              <a:picLocks noChangeAspect="1"/>
            </p:cNvPicPr>
            <p:nvPr/>
          </p:nvPicPr>
          <p:blipFill>
            <a:blip r:embed="rId2"/>
            <a:stretch>
              <a:fillRect/>
            </a:stretch>
          </p:blipFill>
          <p:spPr>
            <a:xfrm>
              <a:off x="21179202" y="13021963"/>
              <a:ext cx="1290128" cy="1290128"/>
            </a:xfrm>
            <a:prstGeom prst="rect">
              <a:avLst/>
            </a:prstGeom>
            <a:ln w="57150">
              <a:noFill/>
            </a:ln>
          </p:spPr>
        </p:pic>
        <p:pic>
          <p:nvPicPr>
            <p:cNvPr id="19" name="Picture 18" descr="A yellow sign with white text&#10;&#10;AI-generated content may be incorrect.">
              <a:extLst>
                <a:ext uri="{FF2B5EF4-FFF2-40B4-BE49-F238E27FC236}">
                  <a16:creationId xmlns:a16="http://schemas.microsoft.com/office/drawing/2014/main" id="{D41935B7-0800-6878-BDED-826DA968C0C7}"/>
                </a:ext>
              </a:extLst>
            </p:cNvPr>
            <p:cNvPicPr>
              <a:picLocks noChangeAspect="1"/>
            </p:cNvPicPr>
            <p:nvPr/>
          </p:nvPicPr>
          <p:blipFill>
            <a:blip r:embed="rId3"/>
            <a:stretch>
              <a:fillRect/>
            </a:stretch>
          </p:blipFill>
          <p:spPr>
            <a:xfrm>
              <a:off x="19758178" y="13060186"/>
              <a:ext cx="1290128" cy="1290128"/>
            </a:xfrm>
            <a:prstGeom prst="rect">
              <a:avLst/>
            </a:prstGeom>
            <a:ln w="57150">
              <a:solidFill>
                <a:srgbClr val="00B050"/>
              </a:solidFill>
            </a:ln>
          </p:spPr>
        </p:pic>
        <p:pic>
          <p:nvPicPr>
            <p:cNvPr id="20" name="Picture 19" descr="A green and white sign with a planet earth in the middle&#10;&#10;AI-generated content may be incorrect.">
              <a:extLst>
                <a:ext uri="{FF2B5EF4-FFF2-40B4-BE49-F238E27FC236}">
                  <a16:creationId xmlns:a16="http://schemas.microsoft.com/office/drawing/2014/main" id="{A9B113AC-8814-7E71-8D53-BAFDBD072B1B}"/>
                </a:ext>
              </a:extLst>
            </p:cNvPr>
            <p:cNvPicPr>
              <a:picLocks noChangeAspect="1"/>
            </p:cNvPicPr>
            <p:nvPr/>
          </p:nvPicPr>
          <p:blipFill>
            <a:blip r:embed="rId4"/>
            <a:stretch>
              <a:fillRect/>
            </a:stretch>
          </p:blipFill>
          <p:spPr>
            <a:xfrm>
              <a:off x="18337155" y="13060186"/>
              <a:ext cx="1290128" cy="1290128"/>
            </a:xfrm>
            <a:prstGeom prst="rect">
              <a:avLst/>
            </a:prstGeom>
            <a:ln w="57150">
              <a:solidFill>
                <a:srgbClr val="00B050"/>
              </a:solidFill>
            </a:ln>
          </p:spPr>
        </p:pic>
        <p:pic>
          <p:nvPicPr>
            <p:cNvPr id="21" name="Picture 20" descr="A green sign with white text and a tree and birds&#10;&#10;AI-generated content may be incorrect.">
              <a:extLst>
                <a:ext uri="{FF2B5EF4-FFF2-40B4-BE49-F238E27FC236}">
                  <a16:creationId xmlns:a16="http://schemas.microsoft.com/office/drawing/2014/main" id="{F36C2613-DF25-87D1-C57C-4E625A81315D}"/>
                </a:ext>
              </a:extLst>
            </p:cNvPr>
            <p:cNvPicPr>
              <a:picLocks noChangeAspect="1"/>
            </p:cNvPicPr>
            <p:nvPr/>
          </p:nvPicPr>
          <p:blipFill>
            <a:blip r:embed="rId5"/>
            <a:stretch>
              <a:fillRect/>
            </a:stretch>
          </p:blipFill>
          <p:spPr>
            <a:xfrm>
              <a:off x="16916132" y="13060186"/>
              <a:ext cx="1290128" cy="1290128"/>
            </a:xfrm>
            <a:prstGeom prst="rect">
              <a:avLst/>
            </a:prstGeom>
            <a:ln w="57150">
              <a:solidFill>
                <a:srgbClr val="00B050"/>
              </a:solidFill>
            </a:ln>
          </p:spPr>
        </p:pic>
      </p:grpSp>
      <p:grpSp>
        <p:nvGrpSpPr>
          <p:cNvPr id="39" name="Group 38">
            <a:extLst>
              <a:ext uri="{FF2B5EF4-FFF2-40B4-BE49-F238E27FC236}">
                <a16:creationId xmlns:a16="http://schemas.microsoft.com/office/drawing/2014/main" id="{B4825925-E298-B247-F588-1C91CD310BC8}"/>
              </a:ext>
            </a:extLst>
          </p:cNvPr>
          <p:cNvGrpSpPr/>
          <p:nvPr/>
        </p:nvGrpSpPr>
        <p:grpSpPr>
          <a:xfrm>
            <a:off x="29631400" y="19412996"/>
            <a:ext cx="12375849" cy="8231459"/>
            <a:chOff x="29631400" y="19412996"/>
            <a:chExt cx="12375849" cy="8231459"/>
          </a:xfrm>
        </p:grpSpPr>
        <p:sp>
          <p:nvSpPr>
            <p:cNvPr id="26" name="Rectangle 25">
              <a:extLst>
                <a:ext uri="{FF2B5EF4-FFF2-40B4-BE49-F238E27FC236}">
                  <a16:creationId xmlns:a16="http://schemas.microsoft.com/office/drawing/2014/main" id="{47632206-BD47-425B-25F0-7B57D58671E9}"/>
                </a:ext>
              </a:extLst>
            </p:cNvPr>
            <p:cNvSpPr/>
            <p:nvPr/>
          </p:nvSpPr>
          <p:spPr>
            <a:xfrm>
              <a:off x="29642775" y="20185581"/>
              <a:ext cx="12364474" cy="74588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26">
              <a:extLst>
                <a:ext uri="{FF2B5EF4-FFF2-40B4-BE49-F238E27FC236}">
                  <a16:creationId xmlns:a16="http://schemas.microsoft.com/office/drawing/2014/main" id="{7F62B541-C8FC-1AAC-BB83-F5F1D9FB6AFC}"/>
                </a:ext>
              </a:extLst>
            </p:cNvPr>
            <p:cNvSpPr/>
            <p:nvPr/>
          </p:nvSpPr>
          <p:spPr>
            <a:xfrm>
              <a:off x="29631400" y="19412996"/>
              <a:ext cx="12375849" cy="75713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Reflection on SDG</a:t>
              </a:r>
              <a:endParaRPr lang="en-GB" sz="4000" b="1" dirty="0">
                <a:solidFill>
                  <a:schemeClr val="bg1"/>
                </a:solidFill>
              </a:endParaRPr>
            </a:p>
          </p:txBody>
        </p:sp>
        <p:sp>
          <p:nvSpPr>
            <p:cNvPr id="28" name="Rectangle 27">
              <a:extLst>
                <a:ext uri="{FF2B5EF4-FFF2-40B4-BE49-F238E27FC236}">
                  <a16:creationId xmlns:a16="http://schemas.microsoft.com/office/drawing/2014/main" id="{C0D91D77-206B-3A32-6842-98AD99727C0A}"/>
                </a:ext>
              </a:extLst>
            </p:cNvPr>
            <p:cNvSpPr/>
            <p:nvPr/>
          </p:nvSpPr>
          <p:spPr>
            <a:xfrm>
              <a:off x="29762198" y="20245048"/>
              <a:ext cx="1543302" cy="7313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a:extLst>
                <a:ext uri="{FF2B5EF4-FFF2-40B4-BE49-F238E27FC236}">
                  <a16:creationId xmlns:a16="http://schemas.microsoft.com/office/drawing/2014/main" id="{23F599B0-0321-23F3-5A22-EA80A2778B9B}"/>
                </a:ext>
              </a:extLst>
            </p:cNvPr>
            <p:cNvPicPr>
              <a:picLocks noChangeAspect="1"/>
            </p:cNvPicPr>
            <p:nvPr/>
          </p:nvPicPr>
          <p:blipFill>
            <a:blip r:embed="rId6"/>
            <a:srcRect/>
            <a:stretch/>
          </p:blipFill>
          <p:spPr>
            <a:xfrm>
              <a:off x="29894811" y="24658041"/>
              <a:ext cx="1290128" cy="1290128"/>
            </a:xfrm>
            <a:prstGeom prst="rect">
              <a:avLst/>
            </a:prstGeom>
            <a:ln w="57150">
              <a:noFill/>
            </a:ln>
          </p:spPr>
        </p:pic>
        <p:pic>
          <p:nvPicPr>
            <p:cNvPr id="30" name="Picture 29" descr="A yellow sign with white text&#10;&#10;AI-generated content may be incorrect.">
              <a:extLst>
                <a:ext uri="{FF2B5EF4-FFF2-40B4-BE49-F238E27FC236}">
                  <a16:creationId xmlns:a16="http://schemas.microsoft.com/office/drawing/2014/main" id="{84E91E08-E10E-5ED1-CBD1-6806B6ED5673}"/>
                </a:ext>
              </a:extLst>
            </p:cNvPr>
            <p:cNvPicPr>
              <a:picLocks noChangeAspect="1"/>
            </p:cNvPicPr>
            <p:nvPr/>
          </p:nvPicPr>
          <p:blipFill>
            <a:blip r:embed="rId3"/>
            <a:stretch>
              <a:fillRect/>
            </a:stretch>
          </p:blipFill>
          <p:spPr>
            <a:xfrm>
              <a:off x="29894811" y="23223681"/>
              <a:ext cx="1290128" cy="1290128"/>
            </a:xfrm>
            <a:prstGeom prst="rect">
              <a:avLst/>
            </a:prstGeom>
            <a:ln w="57150">
              <a:solidFill>
                <a:srgbClr val="00B0F0"/>
              </a:solidFill>
            </a:ln>
          </p:spPr>
        </p:pic>
        <p:pic>
          <p:nvPicPr>
            <p:cNvPr id="31" name="Picture 30" descr="A green and white sign with a planet earth in the middle&#10;&#10;AI-generated content may be incorrect.">
              <a:extLst>
                <a:ext uri="{FF2B5EF4-FFF2-40B4-BE49-F238E27FC236}">
                  <a16:creationId xmlns:a16="http://schemas.microsoft.com/office/drawing/2014/main" id="{AB9694FF-B195-EE3F-9332-3FE13B14BE4D}"/>
                </a:ext>
              </a:extLst>
            </p:cNvPr>
            <p:cNvPicPr>
              <a:picLocks noChangeAspect="1"/>
            </p:cNvPicPr>
            <p:nvPr/>
          </p:nvPicPr>
          <p:blipFill>
            <a:blip r:embed="rId4"/>
            <a:stretch>
              <a:fillRect/>
            </a:stretch>
          </p:blipFill>
          <p:spPr>
            <a:xfrm>
              <a:off x="29894811" y="21789321"/>
              <a:ext cx="1290128" cy="1290128"/>
            </a:xfrm>
            <a:prstGeom prst="rect">
              <a:avLst/>
            </a:prstGeom>
            <a:ln w="57150">
              <a:solidFill>
                <a:srgbClr val="00B0F0"/>
              </a:solidFill>
            </a:ln>
          </p:spPr>
        </p:pic>
        <p:pic>
          <p:nvPicPr>
            <p:cNvPr id="32" name="Picture 31">
              <a:extLst>
                <a:ext uri="{FF2B5EF4-FFF2-40B4-BE49-F238E27FC236}">
                  <a16:creationId xmlns:a16="http://schemas.microsoft.com/office/drawing/2014/main" id="{B9BA536B-BD64-64C3-D2B2-5D679B58077B}"/>
                </a:ext>
              </a:extLst>
            </p:cNvPr>
            <p:cNvPicPr>
              <a:picLocks noChangeAspect="1"/>
            </p:cNvPicPr>
            <p:nvPr/>
          </p:nvPicPr>
          <p:blipFill>
            <a:blip r:embed="rId7"/>
            <a:srcRect/>
            <a:stretch/>
          </p:blipFill>
          <p:spPr>
            <a:xfrm>
              <a:off x="29894811" y="20356586"/>
              <a:ext cx="1290128" cy="1288503"/>
            </a:xfrm>
            <a:prstGeom prst="rect">
              <a:avLst/>
            </a:prstGeom>
            <a:ln w="57150">
              <a:solidFill>
                <a:srgbClr val="00B0F0"/>
              </a:solidFill>
            </a:ln>
          </p:spPr>
        </p:pic>
        <p:pic>
          <p:nvPicPr>
            <p:cNvPr id="33" name="Picture 32" descr="A logo on an orange background&#10;&#10;AI-generated content may be incorrect.">
              <a:extLst>
                <a:ext uri="{FF2B5EF4-FFF2-40B4-BE49-F238E27FC236}">
                  <a16:creationId xmlns:a16="http://schemas.microsoft.com/office/drawing/2014/main" id="{130C07EF-E823-500A-DCA0-96CF036E717A}"/>
                </a:ext>
              </a:extLst>
            </p:cNvPr>
            <p:cNvPicPr>
              <a:picLocks noChangeAspect="1"/>
            </p:cNvPicPr>
            <p:nvPr/>
          </p:nvPicPr>
          <p:blipFill>
            <a:blip r:embed="rId2"/>
            <a:stretch>
              <a:fillRect/>
            </a:stretch>
          </p:blipFill>
          <p:spPr>
            <a:xfrm>
              <a:off x="29894811" y="26092402"/>
              <a:ext cx="1290128" cy="1290128"/>
            </a:xfrm>
            <a:prstGeom prst="rect">
              <a:avLst/>
            </a:prstGeom>
            <a:ln w="57150">
              <a:noFill/>
            </a:ln>
          </p:spPr>
        </p:pic>
        <p:sp>
          <p:nvSpPr>
            <p:cNvPr id="34" name="TextBox 33">
              <a:extLst>
                <a:ext uri="{FF2B5EF4-FFF2-40B4-BE49-F238E27FC236}">
                  <a16:creationId xmlns:a16="http://schemas.microsoft.com/office/drawing/2014/main" id="{C103DD57-E369-947D-B9CE-CD1EB3E9F283}"/>
                </a:ext>
              </a:extLst>
            </p:cNvPr>
            <p:cNvSpPr txBox="1"/>
            <p:nvPr/>
          </p:nvSpPr>
          <p:spPr>
            <a:xfrm>
              <a:off x="31424923" y="20356586"/>
              <a:ext cx="10362577" cy="1288503"/>
            </a:xfrm>
            <a:prstGeom prst="rect">
              <a:avLst/>
            </a:prstGeom>
            <a:solidFill>
              <a:schemeClr val="accent6">
                <a:lumMod val="20000"/>
                <a:lumOff val="80000"/>
              </a:schemeClr>
            </a:solidFill>
          </p:spPr>
          <p:txBody>
            <a:bodyPr wrap="square" rtlCol="0" anchor="ctr" anchorCtr="0">
              <a:noAutofit/>
            </a:bodyPr>
            <a:lstStyle/>
            <a:p>
              <a:pPr marL="285750" indent="-285750" algn="just">
                <a:buFont typeface="Arial" panose="020B0604020202020204" pitchFamily="34" charset="0"/>
                <a:buChar char="•"/>
              </a:pPr>
              <a:r>
                <a:rPr lang="en-US" sz="1400" dirty="0"/>
                <a:t>Supports </a:t>
              </a:r>
              <a:r>
                <a:rPr lang="en-US" sz="1400" b="1" dirty="0"/>
                <a:t>14.1</a:t>
              </a:r>
              <a:r>
                <a:rPr lang="en-US" sz="1400" dirty="0"/>
                <a:t>: Reducing marine pollution by enabling early oil-spill detection from satellite imagery.</a:t>
              </a:r>
            </a:p>
            <a:p>
              <a:pPr marL="285750" indent="-285750" algn="just">
                <a:buFont typeface="Arial" panose="020B0604020202020204" pitchFamily="34" charset="0"/>
                <a:buChar char="•"/>
              </a:pPr>
              <a:r>
                <a:rPr lang="en-US" sz="1400" dirty="0"/>
                <a:t>Contributes to </a:t>
              </a:r>
              <a:r>
                <a:rPr lang="en-US" sz="1400" b="1" dirty="0"/>
                <a:t>14.2</a:t>
              </a:r>
              <a:r>
                <a:rPr lang="en-US" sz="1400" dirty="0"/>
                <a:t>: Protecting and restoring marine ecosystems through continuous remote monitoring.</a:t>
              </a:r>
            </a:p>
            <a:p>
              <a:pPr marL="285750" indent="-285750" algn="just">
                <a:buFont typeface="Arial" panose="020B0604020202020204" pitchFamily="34" charset="0"/>
                <a:buChar char="•"/>
              </a:pPr>
              <a:r>
                <a:rPr lang="en-US" sz="1400" dirty="0"/>
                <a:t>Advances </a:t>
              </a:r>
              <a:r>
                <a:rPr lang="en-US" sz="1400" b="1" dirty="0"/>
                <a:t>14.A</a:t>
              </a:r>
              <a:r>
                <a:rPr lang="en-US" sz="1400" dirty="0"/>
                <a:t>: Improving marine scientific knowledge using AI-driven analysis of ocean conditions.</a:t>
              </a:r>
            </a:p>
          </p:txBody>
        </p:sp>
        <p:sp>
          <p:nvSpPr>
            <p:cNvPr id="35" name="TextBox 34">
              <a:extLst>
                <a:ext uri="{FF2B5EF4-FFF2-40B4-BE49-F238E27FC236}">
                  <a16:creationId xmlns:a16="http://schemas.microsoft.com/office/drawing/2014/main" id="{D1D8C652-34CF-B403-776D-915CE2AC08EA}"/>
                </a:ext>
              </a:extLst>
            </p:cNvPr>
            <p:cNvSpPr txBox="1"/>
            <p:nvPr/>
          </p:nvSpPr>
          <p:spPr>
            <a:xfrm>
              <a:off x="31414149" y="21789321"/>
              <a:ext cx="10362577" cy="1288503"/>
            </a:xfrm>
            <a:prstGeom prst="rect">
              <a:avLst/>
            </a:prstGeom>
            <a:solidFill>
              <a:schemeClr val="accent6">
                <a:lumMod val="20000"/>
                <a:lumOff val="80000"/>
              </a:schemeClr>
            </a:solidFill>
          </p:spPr>
          <p:txBody>
            <a:bodyPr wrap="square" rtlCol="0" anchor="ctr" anchorCtr="0">
              <a:noAutofit/>
            </a:bodyPr>
            <a:lstStyle/>
            <a:p>
              <a:pPr marL="285750" indent="-285750" algn="just">
                <a:buFont typeface="Arial" panose="020B0604020202020204" pitchFamily="34" charset="0"/>
                <a:buChar char="•"/>
              </a:pPr>
              <a:r>
                <a:rPr lang="en-US" sz="1400" dirty="0"/>
                <a:t>Strengthens </a:t>
              </a:r>
              <a:r>
                <a:rPr lang="en-US" sz="1400" b="1" dirty="0"/>
                <a:t>13.1</a:t>
              </a:r>
              <a:r>
                <a:rPr lang="en-US" sz="1400" dirty="0"/>
                <a:t>: Increasing resilience and adaptive capacity to climate-related hazards.</a:t>
              </a:r>
            </a:p>
            <a:p>
              <a:pPr marL="285750" indent="-285750" algn="just">
                <a:buFont typeface="Arial" panose="020B0604020202020204" pitchFamily="34" charset="0"/>
                <a:buChar char="•"/>
              </a:pPr>
              <a:r>
                <a:rPr lang="en-US" sz="1400" dirty="0"/>
                <a:t>Supports </a:t>
              </a:r>
              <a:r>
                <a:rPr lang="en-US" sz="1400" b="1" dirty="0"/>
                <a:t>13.2</a:t>
              </a:r>
              <a:r>
                <a:rPr lang="en-US" sz="1400" dirty="0"/>
                <a:t>: Integrating climate change measures into policies through data-driven environmental monitoring.</a:t>
              </a:r>
            </a:p>
            <a:p>
              <a:pPr marL="285750" indent="-285750" algn="just">
                <a:buFont typeface="Arial" panose="020B0604020202020204" pitchFamily="34" charset="0"/>
                <a:buChar char="•"/>
              </a:pPr>
              <a:r>
                <a:rPr lang="en-US" sz="1400" dirty="0"/>
                <a:t>Advances </a:t>
              </a:r>
              <a:r>
                <a:rPr lang="en-US" sz="1400" b="1" dirty="0"/>
                <a:t>13.3</a:t>
              </a:r>
              <a:r>
                <a:rPr lang="en-US" sz="1400" dirty="0"/>
                <a:t>: Improving awareness and institutional capacity via accessible AI tools for environmental agencies.</a:t>
              </a:r>
            </a:p>
          </p:txBody>
        </p:sp>
        <p:sp>
          <p:nvSpPr>
            <p:cNvPr id="36" name="TextBox 35">
              <a:extLst>
                <a:ext uri="{FF2B5EF4-FFF2-40B4-BE49-F238E27FC236}">
                  <a16:creationId xmlns:a16="http://schemas.microsoft.com/office/drawing/2014/main" id="{CC855137-F028-D93A-60D9-DF8B9C70C8F3}"/>
                </a:ext>
              </a:extLst>
            </p:cNvPr>
            <p:cNvSpPr txBox="1"/>
            <p:nvPr/>
          </p:nvSpPr>
          <p:spPr>
            <a:xfrm>
              <a:off x="31414149" y="23222056"/>
              <a:ext cx="10362577" cy="1288503"/>
            </a:xfrm>
            <a:prstGeom prst="rect">
              <a:avLst/>
            </a:prstGeom>
            <a:solidFill>
              <a:schemeClr val="accent6">
                <a:lumMod val="20000"/>
                <a:lumOff val="80000"/>
              </a:schemeClr>
            </a:solidFill>
          </p:spPr>
          <p:txBody>
            <a:bodyPr wrap="square" rtlCol="0" anchor="ctr" anchorCtr="0">
              <a:noAutofit/>
            </a:bodyPr>
            <a:lstStyle/>
            <a:p>
              <a:r>
                <a:rPr lang="en-US" sz="1400" dirty="0"/>
                <a:t>Contributes to </a:t>
              </a:r>
              <a:r>
                <a:rPr lang="en-US" sz="1400" b="1" dirty="0"/>
                <a:t>12.2</a:t>
              </a:r>
              <a:r>
                <a:rPr lang="en-US" sz="1400" dirty="0"/>
                <a:t>: Sustainable management and efficient use of natural resources (forests, oceans).</a:t>
              </a:r>
            </a:p>
            <a:p>
              <a:r>
                <a:rPr lang="en-US" sz="1400" dirty="0"/>
                <a:t>Supports </a:t>
              </a:r>
              <a:r>
                <a:rPr lang="en-US" sz="1400" b="1" dirty="0"/>
                <a:t>12.4</a:t>
              </a:r>
              <a:r>
                <a:rPr lang="en-US" sz="1400" dirty="0"/>
                <a:t>: Environmentally sound management of chemicals and pollution (oil spills).</a:t>
              </a:r>
            </a:p>
            <a:p>
              <a:r>
                <a:rPr lang="en-US" sz="1400" dirty="0"/>
                <a:t>Advances </a:t>
              </a:r>
              <a:r>
                <a:rPr lang="en-US" sz="1400" b="1" dirty="0"/>
                <a:t>12.6</a:t>
              </a:r>
              <a:r>
                <a:rPr lang="en-US" sz="1400" dirty="0"/>
                <a:t>: Encourages companies to adopt sustainable practices through transparent monitoring.</a:t>
              </a:r>
            </a:p>
          </p:txBody>
        </p:sp>
        <p:sp>
          <p:nvSpPr>
            <p:cNvPr id="37" name="TextBox 36">
              <a:extLst>
                <a:ext uri="{FF2B5EF4-FFF2-40B4-BE49-F238E27FC236}">
                  <a16:creationId xmlns:a16="http://schemas.microsoft.com/office/drawing/2014/main" id="{67BD1BD1-11E1-4341-9582-EE5346E6770D}"/>
                </a:ext>
              </a:extLst>
            </p:cNvPr>
            <p:cNvSpPr txBox="1"/>
            <p:nvPr/>
          </p:nvSpPr>
          <p:spPr>
            <a:xfrm>
              <a:off x="31414149" y="24659666"/>
              <a:ext cx="10362577" cy="1288503"/>
            </a:xfrm>
            <a:prstGeom prst="rect">
              <a:avLst/>
            </a:prstGeom>
            <a:solidFill>
              <a:schemeClr val="accent6">
                <a:lumMod val="20000"/>
                <a:lumOff val="80000"/>
              </a:schemeClr>
            </a:solidFill>
          </p:spPr>
          <p:txBody>
            <a:bodyPr wrap="square" rtlCol="0" anchor="ctr" anchorCtr="0">
              <a:noAutofit/>
            </a:bodyPr>
            <a:lstStyle/>
            <a:p>
              <a:pPr>
                <a:lnSpc>
                  <a:spcPct val="150000"/>
                </a:lnSpc>
              </a:pPr>
              <a:r>
                <a:rPr lang="en-US"/>
                <a:t>…</a:t>
              </a:r>
            </a:p>
            <a:p>
              <a:pPr>
                <a:lnSpc>
                  <a:spcPct val="150000"/>
                </a:lnSpc>
              </a:pPr>
              <a:r>
                <a:rPr lang="en-US"/>
                <a:t>…</a:t>
              </a:r>
            </a:p>
            <a:p>
              <a:pPr>
                <a:lnSpc>
                  <a:spcPct val="150000"/>
                </a:lnSpc>
              </a:pPr>
              <a:r>
                <a:rPr lang="en-US"/>
                <a:t>…</a:t>
              </a:r>
              <a:endParaRPr lang="en-US" dirty="0"/>
            </a:p>
          </p:txBody>
        </p:sp>
        <p:sp>
          <p:nvSpPr>
            <p:cNvPr id="38" name="TextBox 37">
              <a:extLst>
                <a:ext uri="{FF2B5EF4-FFF2-40B4-BE49-F238E27FC236}">
                  <a16:creationId xmlns:a16="http://schemas.microsoft.com/office/drawing/2014/main" id="{F55B7777-ECA0-9B0E-7941-3097EC916557}"/>
                </a:ext>
              </a:extLst>
            </p:cNvPr>
            <p:cNvSpPr txBox="1"/>
            <p:nvPr/>
          </p:nvSpPr>
          <p:spPr>
            <a:xfrm>
              <a:off x="31414149" y="26094027"/>
              <a:ext cx="10362577" cy="1288503"/>
            </a:xfrm>
            <a:prstGeom prst="rect">
              <a:avLst/>
            </a:prstGeom>
            <a:solidFill>
              <a:schemeClr val="accent6">
                <a:lumMod val="20000"/>
                <a:lumOff val="80000"/>
              </a:schemeClr>
            </a:solidFill>
          </p:spPr>
          <p:txBody>
            <a:bodyPr wrap="square" rtlCol="0" anchor="ctr" anchorCtr="0">
              <a:noAutofit/>
            </a:bodyPr>
            <a:lstStyle/>
            <a:p>
              <a:pPr>
                <a:lnSpc>
                  <a:spcPct val="150000"/>
                </a:lnSpc>
              </a:pPr>
              <a:r>
                <a:rPr lang="en-US"/>
                <a:t>…</a:t>
              </a:r>
            </a:p>
            <a:p>
              <a:pPr>
                <a:lnSpc>
                  <a:spcPct val="150000"/>
                </a:lnSpc>
              </a:pPr>
              <a:r>
                <a:rPr lang="en-US"/>
                <a:t>…</a:t>
              </a:r>
            </a:p>
            <a:p>
              <a:pPr>
                <a:lnSpc>
                  <a:spcPct val="150000"/>
                </a:lnSpc>
              </a:pPr>
              <a:r>
                <a:rPr lang="en-US"/>
                <a:t>…</a:t>
              </a:r>
              <a:endParaRPr lang="en-US" dirty="0"/>
            </a:p>
          </p:txBody>
        </p:sp>
      </p:grpSp>
      <p:sp>
        <p:nvSpPr>
          <p:cNvPr id="40" name="TextBox 39">
            <a:extLst>
              <a:ext uri="{FF2B5EF4-FFF2-40B4-BE49-F238E27FC236}">
                <a16:creationId xmlns:a16="http://schemas.microsoft.com/office/drawing/2014/main" id="{63586981-EAA9-3BDC-BD7E-4D28ACB8701D}"/>
              </a:ext>
            </a:extLst>
          </p:cNvPr>
          <p:cNvSpPr txBox="1"/>
          <p:nvPr/>
        </p:nvSpPr>
        <p:spPr>
          <a:xfrm>
            <a:off x="32800373" y="12845390"/>
            <a:ext cx="8965579" cy="1380319"/>
          </a:xfrm>
          <a:prstGeom prst="rect">
            <a:avLst/>
          </a:prstGeom>
          <a:solidFill>
            <a:schemeClr val="bg1">
              <a:lumMod val="85000"/>
            </a:schemeClr>
          </a:solidFill>
        </p:spPr>
        <p:txBody>
          <a:bodyPr wrap="square" rtlCol="0" anchor="ctr" anchorCtr="0">
            <a:noAutofit/>
          </a:bodyPr>
          <a:lstStyle/>
          <a:p>
            <a:pPr algn="just"/>
            <a:r>
              <a:rPr lang="en-US" sz="1200" b="1" dirty="0"/>
              <a:t>Secondary SDGs</a:t>
            </a:r>
          </a:p>
          <a:p>
            <a:pPr algn="just"/>
            <a:endParaRPr lang="en-US" sz="1200" b="1" dirty="0"/>
          </a:p>
          <a:p>
            <a:pPr algn="just"/>
            <a:r>
              <a:rPr lang="en-US" sz="1200" b="1" dirty="0"/>
              <a:t>SDG 6.3</a:t>
            </a:r>
            <a:r>
              <a:rPr lang="en-US" sz="1200" dirty="0"/>
              <a:t>: Helps improve water quality by identifying pollution events that threaten coastal ecosystems.</a:t>
            </a:r>
          </a:p>
          <a:p>
            <a:pPr algn="just"/>
            <a:r>
              <a:rPr lang="en-US" sz="1200" b="1" dirty="0"/>
              <a:t>SDG 6.6</a:t>
            </a:r>
            <a:r>
              <a:rPr lang="en-US" sz="1200" dirty="0"/>
              <a:t>: Supports the protection of ocean environments by early monitoring of spills.</a:t>
            </a:r>
          </a:p>
          <a:p>
            <a:pPr algn="just"/>
            <a:r>
              <a:rPr lang="en-US" sz="1200" b="1" dirty="0"/>
              <a:t>SDG 9.1 / 9.4</a:t>
            </a:r>
            <a:r>
              <a:rPr lang="en-US" sz="1200" dirty="0"/>
              <a:t>: Demonstrates the application of digital infrastructure and AI in enhancing environmental monitoring systems.</a:t>
            </a:r>
          </a:p>
          <a:p>
            <a:pPr algn="just"/>
            <a:r>
              <a:rPr lang="en-US" sz="1200" b="1" dirty="0"/>
              <a:t>SDG 9.5</a:t>
            </a:r>
            <a:r>
              <a:rPr lang="en-US" sz="1200" dirty="0"/>
              <a:t>: Strengthens scientific research and innovation in the field of remote sensing and sustainable technology.</a:t>
            </a:r>
          </a:p>
        </p:txBody>
      </p:sp>
      <p:sp>
        <p:nvSpPr>
          <p:cNvPr id="41" name="Rectangle 40">
            <a:extLst>
              <a:ext uri="{FF2B5EF4-FFF2-40B4-BE49-F238E27FC236}">
                <a16:creationId xmlns:a16="http://schemas.microsoft.com/office/drawing/2014/main" id="{AC7E6601-E957-B6D4-6C50-8FE06378B8BE}"/>
              </a:ext>
            </a:extLst>
          </p:cNvPr>
          <p:cNvSpPr/>
          <p:nvPr/>
        </p:nvSpPr>
        <p:spPr>
          <a:xfrm>
            <a:off x="29751424" y="12845390"/>
            <a:ext cx="2951076" cy="138031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2" name="Picture 41">
            <a:extLst>
              <a:ext uri="{FF2B5EF4-FFF2-40B4-BE49-F238E27FC236}">
                <a16:creationId xmlns:a16="http://schemas.microsoft.com/office/drawing/2014/main" id="{E5136531-F8D0-7B81-D3B3-7D8C07AF731D}"/>
              </a:ext>
            </a:extLst>
          </p:cNvPr>
          <p:cNvPicPr>
            <a:picLocks noChangeAspect="1"/>
          </p:cNvPicPr>
          <p:nvPr/>
        </p:nvPicPr>
        <p:blipFill>
          <a:blip r:embed="rId6"/>
          <a:srcRect/>
          <a:stretch/>
        </p:blipFill>
        <p:spPr>
          <a:xfrm>
            <a:off x="29884039" y="12893736"/>
            <a:ext cx="1290128" cy="1290128"/>
          </a:xfrm>
          <a:prstGeom prst="rect">
            <a:avLst/>
          </a:prstGeom>
          <a:ln w="57150">
            <a:noFill/>
          </a:ln>
        </p:spPr>
      </p:pic>
      <p:pic>
        <p:nvPicPr>
          <p:cNvPr id="43" name="Picture 42" descr="A logo on an orange background&#10;&#10;AI-generated content may be incorrect.">
            <a:extLst>
              <a:ext uri="{FF2B5EF4-FFF2-40B4-BE49-F238E27FC236}">
                <a16:creationId xmlns:a16="http://schemas.microsoft.com/office/drawing/2014/main" id="{09543BEB-3353-8E89-EB83-5CDE3720727F}"/>
              </a:ext>
            </a:extLst>
          </p:cNvPr>
          <p:cNvPicPr>
            <a:picLocks noChangeAspect="1"/>
          </p:cNvPicPr>
          <p:nvPr/>
        </p:nvPicPr>
        <p:blipFill>
          <a:blip r:embed="rId2"/>
          <a:stretch>
            <a:fillRect/>
          </a:stretch>
        </p:blipFill>
        <p:spPr>
          <a:xfrm>
            <a:off x="31272040" y="12890486"/>
            <a:ext cx="1290128" cy="1290128"/>
          </a:xfrm>
          <a:prstGeom prst="rect">
            <a:avLst/>
          </a:prstGeom>
          <a:ln w="57150">
            <a:noFill/>
          </a:ln>
        </p:spPr>
      </p:pic>
      <p:sp>
        <p:nvSpPr>
          <p:cNvPr id="44" name="TextBox 43">
            <a:extLst>
              <a:ext uri="{FF2B5EF4-FFF2-40B4-BE49-F238E27FC236}">
                <a16:creationId xmlns:a16="http://schemas.microsoft.com/office/drawing/2014/main" id="{04D8AE0C-3174-7257-187C-63B790AE80CF}"/>
              </a:ext>
            </a:extLst>
          </p:cNvPr>
          <p:cNvSpPr txBox="1"/>
          <p:nvPr/>
        </p:nvSpPr>
        <p:spPr>
          <a:xfrm>
            <a:off x="13438173" y="6137994"/>
            <a:ext cx="15575884" cy="1692771"/>
          </a:xfrm>
          <a:prstGeom prst="rect">
            <a:avLst/>
          </a:prstGeom>
          <a:solidFill>
            <a:schemeClr val="accent6">
              <a:lumMod val="20000"/>
              <a:lumOff val="80000"/>
            </a:schemeClr>
          </a:solidFill>
        </p:spPr>
        <p:txBody>
          <a:bodyPr wrap="square" rtlCol="0">
            <a:spAutoFit/>
          </a:bodyPr>
          <a:lstStyle/>
          <a:p>
            <a:pPr algn="just"/>
            <a:r>
              <a:rPr lang="en-US" sz="2600" dirty="0"/>
              <a:t>This project utilizes the same principle of John D. and Zhang C. (2022)’s deforestation paper with two significant modifications:</a:t>
            </a:r>
          </a:p>
          <a:p>
            <a:pPr algn="just"/>
            <a:r>
              <a:rPr lang="en-US" sz="2600" dirty="0"/>
              <a:t>…</a:t>
            </a:r>
          </a:p>
          <a:p>
            <a:pPr algn="just"/>
            <a:r>
              <a:rPr lang="en-US" sz="2600" dirty="0"/>
              <a:t>… </a:t>
            </a:r>
            <a:endParaRPr lang="en-GB" sz="2600" dirty="0"/>
          </a:p>
        </p:txBody>
      </p:sp>
    </p:spTree>
    <p:extLst>
      <p:ext uri="{BB962C8B-B14F-4D97-AF65-F5344CB8AC3E}">
        <p14:creationId xmlns:p14="http://schemas.microsoft.com/office/powerpoint/2010/main" val="3745157712"/>
      </p:ext>
    </p:extLst>
  </p:cSld>
  <p:clrMapOvr>
    <a:masterClrMapping/>
  </p:clrMapOvr>
</p:sld>
</file>

<file path=ppt/theme/theme1.xml><?xml version="1.0" encoding="utf-8"?>
<a:theme xmlns:a="http://schemas.openxmlformats.org/drawingml/2006/main" name="UCL_Black_A0_Landscape_Poster_Theme">
  <a:themeElements>
    <a:clrScheme name="UCL Black Theme">
      <a:dk1>
        <a:sysClr val="windowText" lastClr="000000"/>
      </a:dk1>
      <a:lt1>
        <a:srgbClr val="FFFFFF"/>
      </a:lt1>
      <a:dk2>
        <a:srgbClr val="000000"/>
      </a:dk2>
      <a:lt2>
        <a:srgbClr val="E6E6E6"/>
      </a:lt2>
      <a:accent1>
        <a:srgbClr val="F6BE00"/>
      </a:accent1>
      <a:accent2>
        <a:srgbClr val="B5BD00"/>
      </a:accent2>
      <a:accent3>
        <a:srgbClr val="A4DBE8"/>
      </a:accent3>
      <a:accent4>
        <a:srgbClr val="8C8279"/>
      </a:accent4>
      <a:accent5>
        <a:srgbClr val="EA7600"/>
      </a:accent5>
      <a:accent6>
        <a:srgbClr val="E03C31"/>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L_A0_Landscape_Poster_Master.potx" id="{E6ADF204-7703-4FAF-A4DB-2F2B8C53F31A}" vid="{08D27FD6-0F78-412E-B5C8-B2578D9762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94ADD47B68F244089BBDDC01A883908" ma:contentTypeVersion="13" ma:contentTypeDescription="Create a new document." ma:contentTypeScope="" ma:versionID="1a95ec089373963790b30efd154ab720">
  <xsd:schema xmlns:xsd="http://www.w3.org/2001/XMLSchema" xmlns:xs="http://www.w3.org/2001/XMLSchema" xmlns:p="http://schemas.microsoft.com/office/2006/metadata/properties" xmlns:ns3="d5fb6ed1-db9c-48a3-a5c6-9c2d850d1a1b" xmlns:ns4="31319a9f-c50a-4d3b-8fa9-492cace4e4c3" targetNamespace="http://schemas.microsoft.com/office/2006/metadata/properties" ma:root="true" ma:fieldsID="638ba751aff1c145b5af88aaaab0b652" ns3:_="" ns4:_="">
    <xsd:import namespace="d5fb6ed1-db9c-48a3-a5c6-9c2d850d1a1b"/>
    <xsd:import namespace="31319a9f-c50a-4d3b-8fa9-492cace4e4c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fb6ed1-db9c-48a3-a5c6-9c2d850d1a1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319a9f-c50a-4d3b-8fa9-492cace4e4c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35FEB0-B839-4E5E-AADA-024AA63178E7}">
  <ds:schemaRefs>
    <ds:schemaRef ds:uri="http://www.w3.org/XML/1998/namespace"/>
    <ds:schemaRef ds:uri="31319a9f-c50a-4d3b-8fa9-492cace4e4c3"/>
    <ds:schemaRef ds:uri="http://schemas.microsoft.com/office/2006/documentManagement/types"/>
    <ds:schemaRef ds:uri="http://purl.org/dc/terms/"/>
    <ds:schemaRef ds:uri="http://purl.org/dc/elements/1.1/"/>
    <ds:schemaRef ds:uri="http://schemas.microsoft.com/office/infopath/2007/PartnerControls"/>
    <ds:schemaRef ds:uri="d5fb6ed1-db9c-48a3-a5c6-9c2d850d1a1b"/>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3093D280-CC88-44B2-A27A-0AE5D325F8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fb6ed1-db9c-48a3-a5c6-9c2d850d1a1b"/>
    <ds:schemaRef ds:uri="31319a9f-c50a-4d3b-8fa9-492cace4e4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4005A4-B56F-4752-B379-808441D9EC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UCL_A0_Landscape_Poster_Master</Template>
  <TotalTime>998</TotalTime>
  <Words>1536</Words>
  <Application>Microsoft Office PowerPoint</Application>
  <PresentationFormat>Custom</PresentationFormat>
  <Paragraphs>157</Paragraphs>
  <Slides>3</Slides>
  <Notes>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Narrow</vt:lpstr>
      <vt:lpstr>Arial</vt:lpstr>
      <vt:lpstr>Consolas</vt:lpstr>
      <vt:lpstr>Wingdings</vt:lpstr>
      <vt:lpstr>UCL_Black_A0_Landscape_Poster_Theme</vt:lpstr>
      <vt:lpstr>Mind The Slick: Adaptation of Attention U-Net for Satellite-Based Ocean Oil Spill Detection</vt:lpstr>
      <vt:lpstr>PowerPoint Presentation</vt:lpstr>
      <vt:lpstr>PowerPoint Presentation</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A0 Landscape Poster Template</dc:subject>
  <dc:creator>Petterson, Helen</dc:creator>
  <cp:keywords>A0 Landscape Poster</cp:keywords>
  <cp:lastModifiedBy>Tobias, Nicholas</cp:lastModifiedBy>
  <cp:revision>46</cp:revision>
  <dcterms:created xsi:type="dcterms:W3CDTF">2020-10-12T16:47:39Z</dcterms:created>
  <dcterms:modified xsi:type="dcterms:W3CDTF">2025-12-11T01:00:35Z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0x010100994ADD47B68F244089BBDDC01A883908</vt:lpwstr>
  </property>
</Properties>
</file>